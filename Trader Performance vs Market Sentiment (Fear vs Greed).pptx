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img.co/28de3384918d68418297f1576e1d2278c96291b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3651" r="365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2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953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381000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Science Assignment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25905"/>
            <a:ext cx="100965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Trader Performance vs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C5A57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Sentiment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8B8C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(Fear vs Greed)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0050" y="4093845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8" name="Text 5"/>
          <p:cNvSpPr/>
          <p:nvPr/>
        </p:nvSpPr>
        <p:spPr>
          <a:xfrm>
            <a:off x="647700" y="4093845"/>
            <a:ext cx="9601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Analyzing trader behavior and risk dynamics across Bitcoin sentiment regimes using Python, statistical testing, and Hyperliquid data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6719" y="6267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3637" y="74600"/>
                </a:moveTo>
                <a:cubicBezTo>
                  <a:pt x="160772" y="63103"/>
                  <a:pt x="155339" y="54434"/>
                  <a:pt x="143768" y="54434"/>
                </a:cubicBezTo>
                <a:lnTo>
                  <a:pt x="128848" y="54434"/>
                </a:lnTo>
                <a:lnTo>
                  <a:pt x="128848" y="72070"/>
                </a:lnTo>
                <a:cubicBezTo>
                  <a:pt x="128848" y="85762"/>
                  <a:pt x="117239" y="97296"/>
                  <a:pt x="103994" y="97296"/>
                </a:cubicBezTo>
                <a:lnTo>
                  <a:pt x="64257" y="97296"/>
                </a:lnTo>
                <a:cubicBezTo>
                  <a:pt x="53392" y="97296"/>
                  <a:pt x="44388" y="106598"/>
                  <a:pt x="44388" y="117500"/>
                </a:cubicBezTo>
                <a:lnTo>
                  <a:pt x="44388" y="155377"/>
                </a:lnTo>
                <a:cubicBezTo>
                  <a:pt x="44388" y="166167"/>
                  <a:pt x="53764" y="172492"/>
                  <a:pt x="64257" y="175580"/>
                </a:cubicBezTo>
                <a:cubicBezTo>
                  <a:pt x="76833" y="179263"/>
                  <a:pt x="88925" y="179933"/>
                  <a:pt x="103994" y="175580"/>
                </a:cubicBezTo>
                <a:cubicBezTo>
                  <a:pt x="114002" y="172678"/>
                  <a:pt x="123862" y="166836"/>
                  <a:pt x="123862" y="155377"/>
                </a:cubicBezTo>
                <a:lnTo>
                  <a:pt x="123862" y="140233"/>
                </a:lnTo>
                <a:lnTo>
                  <a:pt x="84162" y="140233"/>
                </a:lnTo>
                <a:lnTo>
                  <a:pt x="84162" y="135173"/>
                </a:lnTo>
                <a:lnTo>
                  <a:pt x="143768" y="135173"/>
                </a:lnTo>
                <a:cubicBezTo>
                  <a:pt x="155339" y="135173"/>
                  <a:pt x="159618" y="127099"/>
                  <a:pt x="163637" y="115007"/>
                </a:cubicBezTo>
                <a:cubicBezTo>
                  <a:pt x="167804" y="102543"/>
                  <a:pt x="167618" y="90562"/>
                  <a:pt x="163637" y="74600"/>
                </a:cubicBezTo>
                <a:close/>
                <a:moveTo>
                  <a:pt x="106487" y="165460"/>
                </a:moveTo>
                <a:cubicBezTo>
                  <a:pt x="103655" y="165658"/>
                  <a:pt x="100949" y="164260"/>
                  <a:pt x="99472" y="161836"/>
                </a:cubicBezTo>
                <a:cubicBezTo>
                  <a:pt x="97996" y="159411"/>
                  <a:pt x="97996" y="156365"/>
                  <a:pt x="99472" y="153941"/>
                </a:cubicBezTo>
                <a:cubicBezTo>
                  <a:pt x="100949" y="151516"/>
                  <a:pt x="103655" y="150118"/>
                  <a:pt x="106487" y="150316"/>
                </a:cubicBezTo>
                <a:cubicBezTo>
                  <a:pt x="109318" y="150118"/>
                  <a:pt x="112024" y="151516"/>
                  <a:pt x="113501" y="153941"/>
                </a:cubicBezTo>
                <a:cubicBezTo>
                  <a:pt x="114977" y="156365"/>
                  <a:pt x="114977" y="159411"/>
                  <a:pt x="113501" y="161836"/>
                </a:cubicBezTo>
                <a:cubicBezTo>
                  <a:pt x="112024" y="164260"/>
                  <a:pt x="109318" y="165658"/>
                  <a:pt x="106487" y="165460"/>
                </a:cubicBezTo>
                <a:close/>
                <a:moveTo>
                  <a:pt x="62433" y="92311"/>
                </a:moveTo>
                <a:lnTo>
                  <a:pt x="102171" y="92311"/>
                </a:lnTo>
                <a:cubicBezTo>
                  <a:pt x="113221" y="92311"/>
                  <a:pt x="122039" y="83195"/>
                  <a:pt x="122039" y="72107"/>
                </a:cubicBezTo>
                <a:lnTo>
                  <a:pt x="122039" y="34193"/>
                </a:lnTo>
                <a:cubicBezTo>
                  <a:pt x="122039" y="23403"/>
                  <a:pt x="112961" y="15329"/>
                  <a:pt x="102171" y="13506"/>
                </a:cubicBezTo>
                <a:cubicBezTo>
                  <a:pt x="88850" y="11311"/>
                  <a:pt x="74377" y="11423"/>
                  <a:pt x="62433" y="13543"/>
                </a:cubicBezTo>
                <a:cubicBezTo>
                  <a:pt x="45616" y="16520"/>
                  <a:pt x="42565" y="22733"/>
                  <a:pt x="42565" y="34230"/>
                </a:cubicBezTo>
                <a:lnTo>
                  <a:pt x="42565" y="49374"/>
                </a:lnTo>
                <a:lnTo>
                  <a:pt x="82339" y="49374"/>
                </a:lnTo>
                <a:lnTo>
                  <a:pt x="82339" y="54434"/>
                </a:lnTo>
                <a:lnTo>
                  <a:pt x="27645" y="54434"/>
                </a:lnTo>
                <a:cubicBezTo>
                  <a:pt x="16073" y="54434"/>
                  <a:pt x="5953" y="61392"/>
                  <a:pt x="2791" y="74600"/>
                </a:cubicBezTo>
                <a:cubicBezTo>
                  <a:pt x="-856" y="89743"/>
                  <a:pt x="-1005" y="99194"/>
                  <a:pt x="2791" y="115007"/>
                </a:cubicBezTo>
                <a:cubicBezTo>
                  <a:pt x="5618" y="126764"/>
                  <a:pt x="12353" y="135173"/>
                  <a:pt x="23924" y="135173"/>
                </a:cubicBezTo>
                <a:lnTo>
                  <a:pt x="37579" y="135173"/>
                </a:lnTo>
                <a:lnTo>
                  <a:pt x="37579" y="117016"/>
                </a:lnTo>
                <a:cubicBezTo>
                  <a:pt x="37579" y="103882"/>
                  <a:pt x="48927" y="92311"/>
                  <a:pt x="62433" y="92311"/>
                </a:cubicBezTo>
                <a:close/>
                <a:moveTo>
                  <a:pt x="59978" y="24073"/>
                </a:moveTo>
                <a:cubicBezTo>
                  <a:pt x="64167" y="24073"/>
                  <a:pt x="67568" y="27474"/>
                  <a:pt x="67568" y="31663"/>
                </a:cubicBezTo>
                <a:cubicBezTo>
                  <a:pt x="67568" y="35852"/>
                  <a:pt x="64167" y="39253"/>
                  <a:pt x="59978" y="39253"/>
                </a:cubicBezTo>
                <a:cubicBezTo>
                  <a:pt x="55789" y="39253"/>
                  <a:pt x="52387" y="35852"/>
                  <a:pt x="52387" y="31663"/>
                </a:cubicBezTo>
                <a:cubicBezTo>
                  <a:pt x="52387" y="27474"/>
                  <a:pt x="55789" y="24073"/>
                  <a:pt x="59978" y="24073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0" name="Text 7"/>
          <p:cNvSpPr/>
          <p:nvPr/>
        </p:nvSpPr>
        <p:spPr>
          <a:xfrm>
            <a:off x="695325" y="6267450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61361" y="62674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2" name="Text 9"/>
          <p:cNvSpPr/>
          <p:nvPr/>
        </p:nvSpPr>
        <p:spPr>
          <a:xfrm>
            <a:off x="1639967" y="6267450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303978" y="626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4" name="Text 11"/>
          <p:cNvSpPr/>
          <p:nvPr/>
        </p:nvSpPr>
        <p:spPr>
          <a:xfrm>
            <a:off x="2594491" y="6267450"/>
            <a:ext cx="54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Seaborn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327559" y="626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6" name="Text 13"/>
          <p:cNvSpPr/>
          <p:nvPr/>
        </p:nvSpPr>
        <p:spPr>
          <a:xfrm>
            <a:off x="3618071" y="626745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Analysis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44820" y="624840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January 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6364" y="346364"/>
            <a:ext cx="1489364" cy="242455"/>
          </a:xfrm>
          <a:custGeom>
            <a:avLst/>
            <a:gdLst/>
            <a:ahLst/>
            <a:cxnLst/>
            <a:rect l="l" t="t" r="r" b="b"/>
            <a:pathLst>
              <a:path w="1489364" h="242455">
                <a:moveTo>
                  <a:pt x="34637" y="0"/>
                </a:moveTo>
                <a:lnTo>
                  <a:pt x="1454727" y="0"/>
                </a:lnTo>
                <a:cubicBezTo>
                  <a:pt x="1473856" y="0"/>
                  <a:pt x="1489364" y="15508"/>
                  <a:pt x="1489364" y="34637"/>
                </a:cubicBezTo>
                <a:lnTo>
                  <a:pt x="1489364" y="207817"/>
                </a:lnTo>
                <a:cubicBezTo>
                  <a:pt x="1489364" y="226947"/>
                  <a:pt x="1473856" y="242455"/>
                  <a:pt x="1454727" y="242455"/>
                </a:cubicBezTo>
                <a:lnTo>
                  <a:pt x="34637" y="242455"/>
                </a:lnTo>
                <a:cubicBezTo>
                  <a:pt x="15520" y="242455"/>
                  <a:pt x="0" y="226934"/>
                  <a:pt x="0" y="207817"/>
                </a:cubicBezTo>
                <a:lnTo>
                  <a:pt x="0" y="34637"/>
                </a:lnTo>
                <a:cubicBezTo>
                  <a:pt x="0" y="15520"/>
                  <a:pt x="15520" y="0"/>
                  <a:pt x="34637" y="0"/>
                </a:cubicBezTo>
                <a:close/>
              </a:path>
            </a:pathLst>
          </a:custGeom>
          <a:solidFill>
            <a:srgbClr val="C5A57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46364" y="346364"/>
            <a:ext cx="1549977" cy="242455"/>
          </a:xfrm>
          <a:prstGeom prst="rect">
            <a:avLst/>
          </a:prstGeom>
          <a:noFill/>
          <a:ln/>
        </p:spPr>
        <p:txBody>
          <a:bodyPr wrap="square" lIns="103909" tIns="34636" rIns="103909" bIns="34636" rtlCol="0" anchor="ctr"/>
          <a:lstStyle/>
          <a:p>
            <a:pPr>
              <a:lnSpc>
                <a:spcPct val="120000"/>
              </a:lnSpc>
            </a:pPr>
            <a:r>
              <a:rPr lang="en-US" sz="955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ASSIGNMENT CONTEXT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6364" y="692727"/>
            <a:ext cx="11707091" cy="103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7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27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Objective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682" y="2008909"/>
            <a:ext cx="5628409" cy="5810250"/>
          </a:xfrm>
          <a:custGeom>
            <a:avLst/>
            <a:gdLst/>
            <a:ahLst/>
            <a:cxnLst/>
            <a:rect l="l" t="t" r="r" b="b"/>
            <a:pathLst>
              <a:path w="5628409" h="5810250">
                <a:moveTo>
                  <a:pt x="34636" y="0"/>
                </a:moveTo>
                <a:lnTo>
                  <a:pt x="5559123" y="0"/>
                </a:lnTo>
                <a:cubicBezTo>
                  <a:pt x="5597389" y="0"/>
                  <a:pt x="5628409" y="31020"/>
                  <a:pt x="5628409" y="69286"/>
                </a:cubicBezTo>
                <a:lnTo>
                  <a:pt x="5628409" y="5740964"/>
                </a:lnTo>
                <a:cubicBezTo>
                  <a:pt x="5628409" y="5779230"/>
                  <a:pt x="5597389" y="5810250"/>
                  <a:pt x="5559123" y="5810250"/>
                </a:cubicBezTo>
                <a:lnTo>
                  <a:pt x="34636" y="5810250"/>
                </a:lnTo>
                <a:cubicBezTo>
                  <a:pt x="15507" y="5810250"/>
                  <a:pt x="0" y="5794743"/>
                  <a:pt x="0" y="5775614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3682" y="2008909"/>
            <a:ext cx="34636" cy="5810250"/>
          </a:xfrm>
          <a:custGeom>
            <a:avLst/>
            <a:gdLst/>
            <a:ahLst/>
            <a:cxnLst/>
            <a:rect l="l" t="t" r="r" b="b"/>
            <a:pathLst>
              <a:path w="34636" h="5810250">
                <a:moveTo>
                  <a:pt x="34636" y="0"/>
                </a:moveTo>
                <a:lnTo>
                  <a:pt x="34636" y="0"/>
                </a:lnTo>
                <a:lnTo>
                  <a:pt x="34636" y="5810250"/>
                </a:lnTo>
                <a:lnTo>
                  <a:pt x="34636" y="5810250"/>
                </a:lnTo>
                <a:cubicBezTo>
                  <a:pt x="15507" y="5810250"/>
                  <a:pt x="0" y="5794743"/>
                  <a:pt x="0" y="5775614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7" name="Shape 5"/>
          <p:cNvSpPr/>
          <p:nvPr/>
        </p:nvSpPr>
        <p:spPr>
          <a:xfrm>
            <a:off x="658091" y="3110129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207818" y="0"/>
                </a:moveTo>
                <a:lnTo>
                  <a:pt x="207818" y="0"/>
                </a:lnTo>
                <a:cubicBezTo>
                  <a:pt x="322516" y="0"/>
                  <a:pt x="415636" y="93120"/>
                  <a:pt x="415636" y="207818"/>
                </a:cubicBezTo>
                <a:lnTo>
                  <a:pt x="415636" y="207818"/>
                </a:lnTo>
                <a:cubicBezTo>
                  <a:pt x="415636" y="322516"/>
                  <a:pt x="322516" y="415636"/>
                  <a:pt x="207818" y="415636"/>
                </a:cubicBezTo>
                <a:lnTo>
                  <a:pt x="207818" y="415636"/>
                </a:lnTo>
                <a:cubicBezTo>
                  <a:pt x="93120" y="415636"/>
                  <a:pt x="0" y="322516"/>
                  <a:pt x="0" y="207818"/>
                </a:cubicBezTo>
                <a:lnTo>
                  <a:pt x="0" y="207818"/>
                </a:lnTo>
                <a:cubicBezTo>
                  <a:pt x="0" y="93120"/>
                  <a:pt x="93120" y="0"/>
                  <a:pt x="207818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8" name="Text 6"/>
          <p:cNvSpPr/>
          <p:nvPr/>
        </p:nvSpPr>
        <p:spPr>
          <a:xfrm>
            <a:off x="614795" y="3110129"/>
            <a:ext cx="502227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7636" y="3179402"/>
            <a:ext cx="1264227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091" y="3664311"/>
            <a:ext cx="5134841" cy="51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</a:t>
            </a:r>
            <a:pPr>
              <a:lnSpc>
                <a:spcPct val="140000"/>
              </a:lnSpc>
            </a:pPr>
            <a:r>
              <a:rPr lang="en-US" sz="1227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trader profitability and risk-taking </a:t>
            </a:r>
            <a:pPr>
              <a:lnSpc>
                <a:spcPct val="140000"/>
              </a:lnSpc>
            </a:pPr>
            <a:r>
              <a:rPr lang="en-US" sz="122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 under Fear vs Greed market conditions in the Bitcoin ecosystem.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1080" y="5888399"/>
            <a:ext cx="103909" cy="103909"/>
          </a:xfrm>
          <a:custGeom>
            <a:avLst/>
            <a:gdLst/>
            <a:ahLst/>
            <a:cxnLst/>
            <a:rect l="l" t="t" r="r" b="b"/>
            <a:pathLst>
              <a:path w="103909" h="103909">
                <a:moveTo>
                  <a:pt x="0" y="51955"/>
                </a:moveTo>
                <a:cubicBezTo>
                  <a:pt x="0" y="23280"/>
                  <a:pt x="23280" y="0"/>
                  <a:pt x="51955" y="0"/>
                </a:cubicBezTo>
                <a:cubicBezTo>
                  <a:pt x="80629" y="0"/>
                  <a:pt x="103909" y="23280"/>
                  <a:pt x="103909" y="51955"/>
                </a:cubicBezTo>
                <a:cubicBezTo>
                  <a:pt x="103909" y="80629"/>
                  <a:pt x="80629" y="103909"/>
                  <a:pt x="51955" y="103909"/>
                </a:cubicBezTo>
                <a:cubicBezTo>
                  <a:pt x="23280" y="103909"/>
                  <a:pt x="0" y="80629"/>
                  <a:pt x="0" y="51955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2" name="Text 10"/>
          <p:cNvSpPr/>
          <p:nvPr/>
        </p:nvSpPr>
        <p:spPr>
          <a:xfrm>
            <a:off x="891886" y="5819126"/>
            <a:ext cx="339436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 traders perform better in certain sentiment regimes?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1080" y="6234762"/>
            <a:ext cx="103909" cy="103909"/>
          </a:xfrm>
          <a:custGeom>
            <a:avLst/>
            <a:gdLst/>
            <a:ahLst/>
            <a:cxnLst/>
            <a:rect l="l" t="t" r="r" b="b"/>
            <a:pathLst>
              <a:path w="103909" h="103909">
                <a:moveTo>
                  <a:pt x="0" y="51955"/>
                </a:moveTo>
                <a:cubicBezTo>
                  <a:pt x="0" y="23280"/>
                  <a:pt x="23280" y="0"/>
                  <a:pt x="51955" y="0"/>
                </a:cubicBezTo>
                <a:cubicBezTo>
                  <a:pt x="80629" y="0"/>
                  <a:pt x="103909" y="23280"/>
                  <a:pt x="103909" y="51955"/>
                </a:cubicBezTo>
                <a:cubicBezTo>
                  <a:pt x="103909" y="80629"/>
                  <a:pt x="80629" y="103909"/>
                  <a:pt x="51955" y="103909"/>
                </a:cubicBezTo>
                <a:cubicBezTo>
                  <a:pt x="23280" y="103909"/>
                  <a:pt x="0" y="80629"/>
                  <a:pt x="0" y="51955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4" name="Text 12"/>
          <p:cNvSpPr/>
          <p:nvPr/>
        </p:nvSpPr>
        <p:spPr>
          <a:xfrm>
            <a:off x="891886" y="6165489"/>
            <a:ext cx="3385705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does risk behavior change with market sentiment?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1080" y="6581126"/>
            <a:ext cx="103909" cy="103909"/>
          </a:xfrm>
          <a:custGeom>
            <a:avLst/>
            <a:gdLst/>
            <a:ahLst/>
            <a:cxnLst/>
            <a:rect l="l" t="t" r="r" b="b"/>
            <a:pathLst>
              <a:path w="103909" h="103909">
                <a:moveTo>
                  <a:pt x="0" y="51955"/>
                </a:moveTo>
                <a:cubicBezTo>
                  <a:pt x="0" y="23280"/>
                  <a:pt x="23280" y="0"/>
                  <a:pt x="51955" y="0"/>
                </a:cubicBezTo>
                <a:cubicBezTo>
                  <a:pt x="80629" y="0"/>
                  <a:pt x="103909" y="23280"/>
                  <a:pt x="103909" y="51955"/>
                </a:cubicBezTo>
                <a:cubicBezTo>
                  <a:pt x="103909" y="80629"/>
                  <a:pt x="80629" y="103909"/>
                  <a:pt x="51955" y="103909"/>
                </a:cubicBezTo>
                <a:cubicBezTo>
                  <a:pt x="23280" y="103909"/>
                  <a:pt x="0" y="80629"/>
                  <a:pt x="0" y="51955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6" name="Text 14"/>
          <p:cNvSpPr/>
          <p:nvPr/>
        </p:nvSpPr>
        <p:spPr>
          <a:xfrm>
            <a:off x="891886" y="6511853"/>
            <a:ext cx="3394364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 performance patterns consistent across conditions?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227" y="2008909"/>
            <a:ext cx="5628409" cy="5810250"/>
          </a:xfrm>
          <a:custGeom>
            <a:avLst/>
            <a:gdLst/>
            <a:ahLst/>
            <a:cxnLst/>
            <a:rect l="l" t="t" r="r" b="b"/>
            <a:pathLst>
              <a:path w="5628409" h="5810250">
                <a:moveTo>
                  <a:pt x="34636" y="0"/>
                </a:moveTo>
                <a:lnTo>
                  <a:pt x="5559123" y="0"/>
                </a:lnTo>
                <a:cubicBezTo>
                  <a:pt x="5597389" y="0"/>
                  <a:pt x="5628409" y="31020"/>
                  <a:pt x="5628409" y="69286"/>
                </a:cubicBezTo>
                <a:lnTo>
                  <a:pt x="5628409" y="5740964"/>
                </a:lnTo>
                <a:cubicBezTo>
                  <a:pt x="5628409" y="5779230"/>
                  <a:pt x="5597389" y="5810250"/>
                  <a:pt x="5559123" y="5810250"/>
                </a:cubicBezTo>
                <a:lnTo>
                  <a:pt x="34636" y="5810250"/>
                </a:lnTo>
                <a:cubicBezTo>
                  <a:pt x="15507" y="5810250"/>
                  <a:pt x="0" y="5794743"/>
                  <a:pt x="0" y="5775614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8B8C7A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17227" y="2008909"/>
            <a:ext cx="34636" cy="5810250"/>
          </a:xfrm>
          <a:custGeom>
            <a:avLst/>
            <a:gdLst/>
            <a:ahLst/>
            <a:cxnLst/>
            <a:rect l="l" t="t" r="r" b="b"/>
            <a:pathLst>
              <a:path w="34636" h="5810250">
                <a:moveTo>
                  <a:pt x="34636" y="0"/>
                </a:moveTo>
                <a:lnTo>
                  <a:pt x="34636" y="0"/>
                </a:lnTo>
                <a:lnTo>
                  <a:pt x="34636" y="5810250"/>
                </a:lnTo>
                <a:lnTo>
                  <a:pt x="34636" y="5810250"/>
                </a:lnTo>
                <a:cubicBezTo>
                  <a:pt x="15507" y="5810250"/>
                  <a:pt x="0" y="5794743"/>
                  <a:pt x="0" y="5775614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11636" y="2286000"/>
            <a:ext cx="415636" cy="415636"/>
          </a:xfrm>
          <a:custGeom>
            <a:avLst/>
            <a:gdLst/>
            <a:ahLst/>
            <a:cxnLst/>
            <a:rect l="l" t="t" r="r" b="b"/>
            <a:pathLst>
              <a:path w="415636" h="415636">
                <a:moveTo>
                  <a:pt x="207818" y="0"/>
                </a:moveTo>
                <a:lnTo>
                  <a:pt x="207818" y="0"/>
                </a:lnTo>
                <a:cubicBezTo>
                  <a:pt x="322516" y="0"/>
                  <a:pt x="415636" y="93120"/>
                  <a:pt x="415636" y="207818"/>
                </a:cubicBezTo>
                <a:lnTo>
                  <a:pt x="415636" y="207818"/>
                </a:lnTo>
                <a:cubicBezTo>
                  <a:pt x="415636" y="322516"/>
                  <a:pt x="322516" y="415636"/>
                  <a:pt x="207818" y="415636"/>
                </a:cubicBezTo>
                <a:lnTo>
                  <a:pt x="207818" y="415636"/>
                </a:lnTo>
                <a:cubicBezTo>
                  <a:pt x="93120" y="415636"/>
                  <a:pt x="0" y="322516"/>
                  <a:pt x="0" y="207818"/>
                </a:cubicBezTo>
                <a:lnTo>
                  <a:pt x="0" y="207818"/>
                </a:lnTo>
                <a:cubicBezTo>
                  <a:pt x="0" y="93120"/>
                  <a:pt x="93120" y="0"/>
                  <a:pt x="207818" y="0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20" name="Text 18"/>
          <p:cNvSpPr/>
          <p:nvPr/>
        </p:nvSpPr>
        <p:spPr>
          <a:xfrm>
            <a:off x="6468341" y="2286000"/>
            <a:ext cx="502227" cy="415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6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31182" y="2355273"/>
            <a:ext cx="1350818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1636" y="2840182"/>
            <a:ext cx="5134841" cy="51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</a:t>
            </a:r>
            <a:pPr>
              <a:lnSpc>
                <a:spcPct val="140000"/>
              </a:lnSpc>
            </a:pPr>
            <a:r>
              <a:rPr lang="en-US" sz="1227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trader performance, risk behavior, and consistency </a:t>
            </a:r>
            <a:pPr>
              <a:lnSpc>
                <a:spcPct val="140000"/>
              </a:lnSpc>
            </a:pPr>
            <a:r>
              <a:rPr lang="en-US" sz="122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sentiment regimes to uncover regime-dependent patterns.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11636" y="5915892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34636" y="0"/>
                </a:moveTo>
                <a:lnTo>
                  <a:pt x="242455" y="0"/>
                </a:lnTo>
                <a:cubicBezTo>
                  <a:pt x="261571" y="0"/>
                  <a:pt x="277091" y="15520"/>
                  <a:pt x="277091" y="34636"/>
                </a:cubicBezTo>
                <a:lnTo>
                  <a:pt x="277091" y="242455"/>
                </a:lnTo>
                <a:cubicBezTo>
                  <a:pt x="277091" y="261571"/>
                  <a:pt x="261571" y="277091"/>
                  <a:pt x="242455" y="277091"/>
                </a:cubicBezTo>
                <a:lnTo>
                  <a:pt x="34636" y="277091"/>
                </a:lnTo>
                <a:cubicBezTo>
                  <a:pt x="15520" y="277091"/>
                  <a:pt x="0" y="261571"/>
                  <a:pt x="0" y="242455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77000" y="5915892"/>
            <a:ext cx="346364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92636" y="5950528"/>
            <a:ext cx="2086841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Quantify performance differences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11636" y="6366164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34636" y="0"/>
                </a:moveTo>
                <a:lnTo>
                  <a:pt x="242455" y="0"/>
                </a:lnTo>
                <a:cubicBezTo>
                  <a:pt x="261571" y="0"/>
                  <a:pt x="277091" y="15520"/>
                  <a:pt x="277091" y="34636"/>
                </a:cubicBezTo>
                <a:lnTo>
                  <a:pt x="277091" y="242455"/>
                </a:lnTo>
                <a:cubicBezTo>
                  <a:pt x="277091" y="261571"/>
                  <a:pt x="261571" y="277091"/>
                  <a:pt x="242455" y="277091"/>
                </a:cubicBezTo>
                <a:lnTo>
                  <a:pt x="34636" y="277091"/>
                </a:lnTo>
                <a:cubicBezTo>
                  <a:pt x="15520" y="277091"/>
                  <a:pt x="0" y="261571"/>
                  <a:pt x="0" y="242455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77000" y="6366164"/>
            <a:ext cx="346364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92636" y="6400801"/>
            <a:ext cx="1714500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risk-taking patterns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11636" y="6816437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34636" y="0"/>
                </a:moveTo>
                <a:lnTo>
                  <a:pt x="242455" y="0"/>
                </a:lnTo>
                <a:cubicBezTo>
                  <a:pt x="261571" y="0"/>
                  <a:pt x="277091" y="15520"/>
                  <a:pt x="277091" y="34636"/>
                </a:cubicBezTo>
                <a:lnTo>
                  <a:pt x="277091" y="242455"/>
                </a:lnTo>
                <a:cubicBezTo>
                  <a:pt x="277091" y="261571"/>
                  <a:pt x="261571" y="277091"/>
                  <a:pt x="242455" y="277091"/>
                </a:cubicBezTo>
                <a:lnTo>
                  <a:pt x="34636" y="277091"/>
                </a:lnTo>
                <a:cubicBezTo>
                  <a:pt x="15520" y="277091"/>
                  <a:pt x="0" y="261571"/>
                  <a:pt x="0" y="242455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30" name="Text 28"/>
          <p:cNvSpPr/>
          <p:nvPr/>
        </p:nvSpPr>
        <p:spPr>
          <a:xfrm>
            <a:off x="6477000" y="6816437"/>
            <a:ext cx="346364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92636" y="6851073"/>
            <a:ext cx="1749136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findings statistically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11636" y="7266710"/>
            <a:ext cx="277091" cy="277091"/>
          </a:xfrm>
          <a:custGeom>
            <a:avLst/>
            <a:gdLst/>
            <a:ahLst/>
            <a:cxnLst/>
            <a:rect l="l" t="t" r="r" b="b"/>
            <a:pathLst>
              <a:path w="277091" h="277091">
                <a:moveTo>
                  <a:pt x="34636" y="0"/>
                </a:moveTo>
                <a:lnTo>
                  <a:pt x="242455" y="0"/>
                </a:lnTo>
                <a:cubicBezTo>
                  <a:pt x="261571" y="0"/>
                  <a:pt x="277091" y="15520"/>
                  <a:pt x="277091" y="34636"/>
                </a:cubicBezTo>
                <a:lnTo>
                  <a:pt x="277091" y="242455"/>
                </a:lnTo>
                <a:cubicBezTo>
                  <a:pt x="277091" y="261571"/>
                  <a:pt x="261571" y="277091"/>
                  <a:pt x="242455" y="277091"/>
                </a:cubicBezTo>
                <a:lnTo>
                  <a:pt x="34636" y="277091"/>
                </a:lnTo>
                <a:cubicBezTo>
                  <a:pt x="15520" y="277091"/>
                  <a:pt x="0" y="261571"/>
                  <a:pt x="0" y="242455"/>
                </a:cubicBezTo>
                <a:lnTo>
                  <a:pt x="0" y="34636"/>
                </a:lnTo>
                <a:cubicBezTo>
                  <a:pt x="0" y="15520"/>
                  <a:pt x="15520" y="0"/>
                  <a:pt x="34636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33" name="Text 31"/>
          <p:cNvSpPr/>
          <p:nvPr/>
        </p:nvSpPr>
        <p:spPr>
          <a:xfrm>
            <a:off x="6477000" y="7266710"/>
            <a:ext cx="346364" cy="27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92636" y="7301346"/>
            <a:ext cx="1627909" cy="20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actionable insights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428750" cy="266700"/>
          </a:xfrm>
          <a:custGeom>
            <a:avLst/>
            <a:gdLst/>
            <a:ahLst/>
            <a:cxnLst/>
            <a:rect l="l" t="t" r="r" b="b"/>
            <a:pathLst>
              <a:path w="1428750" h="266700">
                <a:moveTo>
                  <a:pt x="38101" y="0"/>
                </a:moveTo>
                <a:lnTo>
                  <a:pt x="1390649" y="0"/>
                </a:lnTo>
                <a:cubicBezTo>
                  <a:pt x="1411692" y="0"/>
                  <a:pt x="1428750" y="17058"/>
                  <a:pt x="1428750" y="38101"/>
                </a:cubicBezTo>
                <a:lnTo>
                  <a:pt x="1428750" y="228599"/>
                </a:lnTo>
                <a:cubicBezTo>
                  <a:pt x="1428750" y="249642"/>
                  <a:pt x="1411692" y="266700"/>
                  <a:pt x="13906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57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4954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Datasets Used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5589270" cy="3789045"/>
          </a:xfrm>
          <a:custGeom>
            <a:avLst/>
            <a:gdLst/>
            <a:ahLst/>
            <a:cxnLst/>
            <a:rect l="l" t="t" r="r" b="b"/>
            <a:pathLst>
              <a:path w="5589270" h="3789045">
                <a:moveTo>
                  <a:pt x="76198" y="0"/>
                </a:moveTo>
                <a:lnTo>
                  <a:pt x="5513072" y="0"/>
                </a:lnTo>
                <a:cubicBezTo>
                  <a:pt x="5555155" y="0"/>
                  <a:pt x="5589270" y="34115"/>
                  <a:pt x="5589270" y="76198"/>
                </a:cubicBezTo>
                <a:lnTo>
                  <a:pt x="5589270" y="3712847"/>
                </a:lnTo>
                <a:cubicBezTo>
                  <a:pt x="5589270" y="3754930"/>
                  <a:pt x="5555155" y="3789045"/>
                  <a:pt x="5513072" y="3789045"/>
                </a:cubicBezTo>
                <a:lnTo>
                  <a:pt x="76198" y="3789045"/>
                </a:lnTo>
                <a:cubicBezTo>
                  <a:pt x="34115" y="3789045"/>
                  <a:pt x="0" y="3754930"/>
                  <a:pt x="0" y="371284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0160">
            <a:solidFill>
              <a:srgbClr val="4A6C82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7602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126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26820" y="1779269"/>
            <a:ext cx="278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Bitcoin Fear &amp; Greed Index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6820" y="2083951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Market Sentiment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446019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sentiment classification ranging from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4A6C82"/>
                </a:solidFill>
                <a:highlight>
                  <a:srgbClr val="4A6C82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Fear to Extreme Greed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providing a comprehensive view of market psychology.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" y="3093719"/>
            <a:ext cx="5200650" cy="342900"/>
          </a:xfrm>
          <a:custGeom>
            <a:avLst/>
            <a:gdLst/>
            <a:ahLst/>
            <a:cxnLst/>
            <a:rect l="l" t="t" r="r" b="b"/>
            <a:pathLst>
              <a:path w="5200650" h="3429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266701"/>
                </a:lnTo>
                <a:cubicBezTo>
                  <a:pt x="5200650" y="308784"/>
                  <a:pt x="5166534" y="342900"/>
                  <a:pt x="51244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55320" y="3169919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Fear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20320" y="3169919"/>
            <a:ext cx="35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0-24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9120" y="3512819"/>
            <a:ext cx="5200650" cy="342900"/>
          </a:xfrm>
          <a:custGeom>
            <a:avLst/>
            <a:gdLst/>
            <a:ahLst/>
            <a:cxnLst/>
            <a:rect l="l" t="t" r="r" b="b"/>
            <a:pathLst>
              <a:path w="5200650" h="3429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266701"/>
                </a:lnTo>
                <a:cubicBezTo>
                  <a:pt x="5200650" y="308784"/>
                  <a:pt x="5166534" y="342900"/>
                  <a:pt x="51244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5320" y="3589019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61504" y="3589019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25-49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9120" y="3931919"/>
            <a:ext cx="5200650" cy="342900"/>
          </a:xfrm>
          <a:custGeom>
            <a:avLst/>
            <a:gdLst/>
            <a:ahLst/>
            <a:cxnLst/>
            <a:rect l="l" t="t" r="r" b="b"/>
            <a:pathLst>
              <a:path w="5200650" h="3429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266701"/>
                </a:lnTo>
                <a:cubicBezTo>
                  <a:pt x="5200650" y="308784"/>
                  <a:pt x="5166534" y="342900"/>
                  <a:pt x="51244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55320" y="4008119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55550" y="4008119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50-74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9120" y="4351019"/>
            <a:ext cx="5200650" cy="342900"/>
          </a:xfrm>
          <a:custGeom>
            <a:avLst/>
            <a:gdLst/>
            <a:ahLst/>
            <a:cxnLst/>
            <a:rect l="l" t="t" r="r" b="b"/>
            <a:pathLst>
              <a:path w="5200650" h="3429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266701"/>
                </a:lnTo>
                <a:cubicBezTo>
                  <a:pt x="5200650" y="308784"/>
                  <a:pt x="5166534" y="342900"/>
                  <a:pt x="51244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5320" y="4427219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Greed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94472" y="4427219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75-100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9120" y="4850129"/>
            <a:ext cx="5200650" cy="7620"/>
          </a:xfrm>
          <a:custGeom>
            <a:avLst/>
            <a:gdLst/>
            <a:ahLst/>
            <a:cxnLst/>
            <a:rect l="l" t="t" r="r" b="b"/>
            <a:pathLst>
              <a:path w="5200650" h="7620">
                <a:moveTo>
                  <a:pt x="0" y="0"/>
                </a:moveTo>
                <a:lnTo>
                  <a:pt x="5200650" y="0"/>
                </a:lnTo>
                <a:lnTo>
                  <a:pt x="52006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06504" y="499681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008" y="4968240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Alternative.me (Feb 2018 - Present)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4110" y="1565910"/>
            <a:ext cx="5589270" cy="3789045"/>
          </a:xfrm>
          <a:custGeom>
            <a:avLst/>
            <a:gdLst/>
            <a:ahLst/>
            <a:cxnLst/>
            <a:rect l="l" t="t" r="r" b="b"/>
            <a:pathLst>
              <a:path w="5589270" h="3789045">
                <a:moveTo>
                  <a:pt x="76198" y="0"/>
                </a:moveTo>
                <a:lnTo>
                  <a:pt x="5513072" y="0"/>
                </a:lnTo>
                <a:cubicBezTo>
                  <a:pt x="5555155" y="0"/>
                  <a:pt x="5589270" y="34115"/>
                  <a:pt x="5589270" y="76198"/>
                </a:cubicBezTo>
                <a:lnTo>
                  <a:pt x="5589270" y="3712847"/>
                </a:lnTo>
                <a:cubicBezTo>
                  <a:pt x="5589270" y="3754930"/>
                  <a:pt x="5555155" y="3789045"/>
                  <a:pt x="5513072" y="3789045"/>
                </a:cubicBezTo>
                <a:lnTo>
                  <a:pt x="76198" y="3789045"/>
                </a:lnTo>
                <a:cubicBezTo>
                  <a:pt x="34115" y="3789045"/>
                  <a:pt x="0" y="3754930"/>
                  <a:pt x="0" y="371284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1" flip="none">
            <a:gsLst>
              <a:gs pos="0">
                <a:srgbClr val="8B8C7A">
                  <a:alpha val="20000"/>
                </a:srgbClr>
              </a:gs>
              <a:gs pos="100000">
                <a:srgbClr val="8B8C7A">
                  <a:alpha val="5000"/>
                </a:srgbClr>
              </a:gs>
            </a:gsLst>
            <a:lin ang="2700000" scaled="1"/>
          </a:gradFill>
          <a:ln w="10160">
            <a:solidFill>
              <a:srgbClr val="8B8C7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8420" y="17602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60820" y="19126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056120" y="1779269"/>
            <a:ext cx="2305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Trader Data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56120" y="2083951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Hyperliquid Perpetuals DEX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8420" y="2446019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trading activity from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B8C7A"/>
                </a:solidFill>
                <a:highlight>
                  <a:srgbClr val="8B8C7A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Hyperliquid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including trades, PnL, position sizes, and timestamps for detailed analysis.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8420" y="3093719"/>
            <a:ext cx="5200650" cy="342900"/>
          </a:xfrm>
          <a:custGeom>
            <a:avLst/>
            <a:gdLst/>
            <a:ahLst/>
            <a:cxnLst/>
            <a:rect l="l" t="t" r="r" b="b"/>
            <a:pathLst>
              <a:path w="5200650" h="3429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266701"/>
                </a:lnTo>
                <a:cubicBezTo>
                  <a:pt x="5200650" y="308784"/>
                  <a:pt x="5166534" y="342900"/>
                  <a:pt x="51244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03670" y="32080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34" name="Text 32"/>
          <p:cNvSpPr/>
          <p:nvPr/>
        </p:nvSpPr>
        <p:spPr>
          <a:xfrm>
            <a:off x="6789420" y="3169919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 identifiers &amp; timestamps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8420" y="3512819"/>
            <a:ext cx="5200650" cy="342900"/>
          </a:xfrm>
          <a:custGeom>
            <a:avLst/>
            <a:gdLst/>
            <a:ahLst/>
            <a:cxnLst/>
            <a:rect l="l" t="t" r="r" b="b"/>
            <a:pathLst>
              <a:path w="5200650" h="3429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266701"/>
                </a:lnTo>
                <a:cubicBezTo>
                  <a:pt x="5200650" y="308784"/>
                  <a:pt x="5166534" y="342900"/>
                  <a:pt x="51244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503670" y="36271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37" name="Text 35"/>
          <p:cNvSpPr/>
          <p:nvPr/>
        </p:nvSpPr>
        <p:spPr>
          <a:xfrm>
            <a:off x="6789420" y="3589019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prices &amp; trade sides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08420" y="3931919"/>
            <a:ext cx="5200650" cy="342900"/>
          </a:xfrm>
          <a:custGeom>
            <a:avLst/>
            <a:gdLst/>
            <a:ahLst/>
            <a:cxnLst/>
            <a:rect l="l" t="t" r="r" b="b"/>
            <a:pathLst>
              <a:path w="5200650" h="3429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266701"/>
                </a:lnTo>
                <a:cubicBezTo>
                  <a:pt x="5200650" y="308784"/>
                  <a:pt x="5166534" y="342900"/>
                  <a:pt x="51244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03670" y="40462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40" name="Text 38"/>
          <p:cNvSpPr/>
          <p:nvPr/>
        </p:nvSpPr>
        <p:spPr>
          <a:xfrm>
            <a:off x="6789420" y="4008119"/>
            <a:ext cx="164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 sizes &amp; USD values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08420" y="4351019"/>
            <a:ext cx="5200650" cy="342900"/>
          </a:xfrm>
          <a:custGeom>
            <a:avLst/>
            <a:gdLst/>
            <a:ahLst/>
            <a:cxnLst/>
            <a:rect l="l" t="t" r="r" b="b"/>
            <a:pathLst>
              <a:path w="5200650" h="3429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266701"/>
                </a:lnTo>
                <a:cubicBezTo>
                  <a:pt x="5200650" y="308784"/>
                  <a:pt x="5166534" y="342900"/>
                  <a:pt x="51244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03670" y="44653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43" name="Text 41"/>
          <p:cNvSpPr/>
          <p:nvPr/>
        </p:nvSpPr>
        <p:spPr>
          <a:xfrm>
            <a:off x="6789420" y="4427219"/>
            <a:ext cx="175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Closed PnL &amp; realized returns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8420" y="4850129"/>
            <a:ext cx="5200650" cy="7620"/>
          </a:xfrm>
          <a:custGeom>
            <a:avLst/>
            <a:gdLst/>
            <a:ahLst/>
            <a:cxnLst/>
            <a:rect l="l" t="t" r="r" b="b"/>
            <a:pathLst>
              <a:path w="5200650" h="7620">
                <a:moveTo>
                  <a:pt x="0" y="0"/>
                </a:moveTo>
                <a:lnTo>
                  <a:pt x="5200650" y="0"/>
                </a:lnTo>
                <a:lnTo>
                  <a:pt x="52006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B8C7A">
              <a:alpha val="3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27470" y="499681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46" name="Text 44"/>
          <p:cNvSpPr/>
          <p:nvPr/>
        </p:nvSpPr>
        <p:spPr>
          <a:xfrm>
            <a:off x="6651307" y="4968240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Hyperliquid API (Real-time)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4810" y="5513070"/>
            <a:ext cx="11418570" cy="902970"/>
          </a:xfrm>
          <a:custGeom>
            <a:avLst/>
            <a:gdLst/>
            <a:ahLst/>
            <a:cxnLst/>
            <a:rect l="l" t="t" r="r" b="b"/>
            <a:pathLst>
              <a:path w="11418570" h="902970">
                <a:moveTo>
                  <a:pt x="76202" y="0"/>
                </a:moveTo>
                <a:lnTo>
                  <a:pt x="11342368" y="0"/>
                </a:lnTo>
                <a:cubicBezTo>
                  <a:pt x="11384453" y="0"/>
                  <a:pt x="11418570" y="34117"/>
                  <a:pt x="11418570" y="76202"/>
                </a:cubicBezTo>
                <a:lnTo>
                  <a:pt x="11418570" y="826768"/>
                </a:lnTo>
                <a:cubicBezTo>
                  <a:pt x="11418570" y="868853"/>
                  <a:pt x="11384453" y="902970"/>
                  <a:pt x="11342368" y="902970"/>
                </a:cubicBezTo>
                <a:lnTo>
                  <a:pt x="76202" y="902970"/>
                </a:lnTo>
                <a:cubicBezTo>
                  <a:pt x="34117" y="902970"/>
                  <a:pt x="0" y="868853"/>
                  <a:pt x="0" y="82676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5A575">
              <a:alpha val="10196"/>
            </a:srgbClr>
          </a:solidFill>
          <a:ln w="10160">
            <a:solidFill>
              <a:srgbClr val="C5A575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1020" y="56692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49" name="Shape 47"/>
          <p:cNvSpPr/>
          <p:nvPr/>
        </p:nvSpPr>
        <p:spPr>
          <a:xfrm>
            <a:off x="612458" y="576453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1074420" y="5669281"/>
            <a:ext cx="1065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 Pipeline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74420" y="6012181"/>
            <a:ext cx="10648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Datasets merged in Python via timestamps. Cleaning: handle missing values, normalize PnL, create risk buckets, and align dates for analysis.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828800" cy="266700"/>
          </a:xfrm>
          <a:custGeom>
            <a:avLst/>
            <a:gdLst/>
            <a:ahLst/>
            <a:cxnLst/>
            <a:rect l="l" t="t" r="r" b="b"/>
            <a:pathLst>
              <a:path w="1828800" h="266700">
                <a:moveTo>
                  <a:pt x="38101" y="0"/>
                </a:moveTo>
                <a:lnTo>
                  <a:pt x="1790699" y="0"/>
                </a:lnTo>
                <a:cubicBezTo>
                  <a:pt x="1811742" y="0"/>
                  <a:pt x="1828800" y="17058"/>
                  <a:pt x="1828800" y="38101"/>
                </a:cubicBezTo>
                <a:lnTo>
                  <a:pt x="1828800" y="228599"/>
                </a:lnTo>
                <a:cubicBezTo>
                  <a:pt x="1828800" y="249642"/>
                  <a:pt x="1811742" y="266700"/>
                  <a:pt x="17906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57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895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24000"/>
            <a:ext cx="38100" cy="4210050"/>
          </a:xfrm>
          <a:custGeom>
            <a:avLst/>
            <a:gdLst/>
            <a:ahLst/>
            <a:cxnLst/>
            <a:rect l="l" t="t" r="r" b="b"/>
            <a:pathLst>
              <a:path w="38100" h="4210050">
                <a:moveTo>
                  <a:pt x="0" y="0"/>
                </a:moveTo>
                <a:lnTo>
                  <a:pt x="38100" y="0"/>
                </a:lnTo>
                <a:lnTo>
                  <a:pt x="38100" y="4210050"/>
                </a:lnTo>
                <a:lnTo>
                  <a:pt x="0" y="42100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6C82"/>
              </a:gs>
              <a:gs pos="0">
                <a:srgbClr val="FFFFFF"/>
              </a:gs>
              <a:gs pos="50000">
                <a:srgbClr val="8B8C7A"/>
              </a:gs>
              <a:gs pos="100000">
                <a:srgbClr val="C5A575"/>
              </a:gs>
            </a:gsLst>
            <a:lin ang="54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048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7" name="Text 5"/>
          <p:cNvSpPr/>
          <p:nvPr/>
        </p:nvSpPr>
        <p:spPr>
          <a:xfrm>
            <a:off x="257175" y="1524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33450" y="1524000"/>
            <a:ext cx="10877550" cy="781050"/>
          </a:xfrm>
          <a:custGeom>
            <a:avLst/>
            <a:gdLst/>
            <a:ahLst/>
            <a:cxnLst/>
            <a:rect l="l" t="t" r="r" b="b"/>
            <a:pathLst>
              <a:path w="10877550" h="781050">
                <a:moveTo>
                  <a:pt x="38100" y="0"/>
                </a:moveTo>
                <a:lnTo>
                  <a:pt x="10801351" y="0"/>
                </a:lnTo>
                <a:cubicBezTo>
                  <a:pt x="10843434" y="0"/>
                  <a:pt x="10877550" y="34116"/>
                  <a:pt x="10877550" y="76199"/>
                </a:cubicBezTo>
                <a:lnTo>
                  <a:pt x="10877550" y="704851"/>
                </a:lnTo>
                <a:cubicBezTo>
                  <a:pt x="10877550" y="746934"/>
                  <a:pt x="10843434" y="781050"/>
                  <a:pt x="10801351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3450" y="1524000"/>
            <a:ext cx="38100" cy="781050"/>
          </a:xfrm>
          <a:custGeom>
            <a:avLst/>
            <a:gdLst/>
            <a:ahLst/>
            <a:cxnLst/>
            <a:rect l="l" t="t" r="r" b="b"/>
            <a:pathLst>
              <a:path w="38100" h="78105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1638300"/>
            <a:ext cx="1072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 &amp; Preprocessing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1943100"/>
            <a:ext cx="1070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Handled missing values, removed outliers, standardized formats. Used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alignment and normalization.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4800" y="2381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13" name="Text 11"/>
          <p:cNvSpPr/>
          <p:nvPr/>
        </p:nvSpPr>
        <p:spPr>
          <a:xfrm>
            <a:off x="257175" y="23812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3450" y="2381250"/>
            <a:ext cx="10877550" cy="781050"/>
          </a:xfrm>
          <a:custGeom>
            <a:avLst/>
            <a:gdLst/>
            <a:ahLst/>
            <a:cxnLst/>
            <a:rect l="l" t="t" r="r" b="b"/>
            <a:pathLst>
              <a:path w="10877550" h="781050">
                <a:moveTo>
                  <a:pt x="38100" y="0"/>
                </a:moveTo>
                <a:lnTo>
                  <a:pt x="10801351" y="0"/>
                </a:lnTo>
                <a:cubicBezTo>
                  <a:pt x="10843434" y="0"/>
                  <a:pt x="10877550" y="34116"/>
                  <a:pt x="10877550" y="76199"/>
                </a:cubicBezTo>
                <a:lnTo>
                  <a:pt x="10877550" y="704851"/>
                </a:lnTo>
                <a:cubicBezTo>
                  <a:pt x="10877550" y="746934"/>
                  <a:pt x="10843434" y="781050"/>
                  <a:pt x="10801351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C7A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3450" y="2381250"/>
            <a:ext cx="38100" cy="781050"/>
          </a:xfrm>
          <a:custGeom>
            <a:avLst/>
            <a:gdLst/>
            <a:ahLst/>
            <a:cxnLst/>
            <a:rect l="l" t="t" r="r" b="b"/>
            <a:pathLst>
              <a:path w="38100" h="78105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2495550"/>
            <a:ext cx="1072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Merging Trades with Daily Sentiment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" y="2800350"/>
            <a:ext cx="1070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Joined trader data with Fear &amp; Greed Index by date. Each trade labeled with sentiment regime for cross-sectional analysis.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4800" y="323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9" name="Text 17"/>
          <p:cNvSpPr/>
          <p:nvPr/>
        </p:nvSpPr>
        <p:spPr>
          <a:xfrm>
            <a:off x="257175" y="3238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3450" y="3238500"/>
            <a:ext cx="10877550" cy="781050"/>
          </a:xfrm>
          <a:custGeom>
            <a:avLst/>
            <a:gdLst/>
            <a:ahLst/>
            <a:cxnLst/>
            <a:rect l="l" t="t" r="r" b="b"/>
            <a:pathLst>
              <a:path w="10877550" h="781050">
                <a:moveTo>
                  <a:pt x="38100" y="0"/>
                </a:moveTo>
                <a:lnTo>
                  <a:pt x="10801351" y="0"/>
                </a:lnTo>
                <a:cubicBezTo>
                  <a:pt x="10843434" y="0"/>
                  <a:pt x="10877550" y="34116"/>
                  <a:pt x="10877550" y="76199"/>
                </a:cubicBezTo>
                <a:lnTo>
                  <a:pt x="10877550" y="704851"/>
                </a:lnTo>
                <a:cubicBezTo>
                  <a:pt x="10877550" y="746934"/>
                  <a:pt x="10843434" y="781050"/>
                  <a:pt x="10801351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33450" y="3238500"/>
            <a:ext cx="38100" cy="781050"/>
          </a:xfrm>
          <a:custGeom>
            <a:avLst/>
            <a:gdLst/>
            <a:ahLst/>
            <a:cxnLst/>
            <a:rect l="l" t="t" r="r" b="b"/>
            <a:pathLst>
              <a:path w="38100" h="78105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" y="3352800"/>
            <a:ext cx="1072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6800" y="3657600"/>
            <a:ext cx="1070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 derived metrics: PnL, win rate, risk buckets, position size, and normalized returns for comprehensive analysis.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4800" y="4095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25" name="Text 23"/>
          <p:cNvSpPr/>
          <p:nvPr/>
        </p:nvSpPr>
        <p:spPr>
          <a:xfrm>
            <a:off x="257175" y="409575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33450" y="4095750"/>
            <a:ext cx="10877550" cy="781050"/>
          </a:xfrm>
          <a:custGeom>
            <a:avLst/>
            <a:gdLst/>
            <a:ahLst/>
            <a:cxnLst/>
            <a:rect l="l" t="t" r="r" b="b"/>
            <a:pathLst>
              <a:path w="10877550" h="781050">
                <a:moveTo>
                  <a:pt x="38100" y="0"/>
                </a:moveTo>
                <a:lnTo>
                  <a:pt x="10801351" y="0"/>
                </a:lnTo>
                <a:cubicBezTo>
                  <a:pt x="10843434" y="0"/>
                  <a:pt x="10877550" y="34116"/>
                  <a:pt x="10877550" y="76199"/>
                </a:cubicBezTo>
                <a:lnTo>
                  <a:pt x="10877550" y="704851"/>
                </a:lnTo>
                <a:cubicBezTo>
                  <a:pt x="10877550" y="746934"/>
                  <a:pt x="10843434" y="781050"/>
                  <a:pt x="10801351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33450" y="4095750"/>
            <a:ext cx="38100" cy="781050"/>
          </a:xfrm>
          <a:custGeom>
            <a:avLst/>
            <a:gdLst/>
            <a:ahLst/>
            <a:cxnLst/>
            <a:rect l="l" t="t" r="r" b="b"/>
            <a:pathLst>
              <a:path w="38100" h="78105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4210050"/>
            <a:ext cx="1072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Analysis &amp; Visualization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6800" y="4514850"/>
            <a:ext cx="1070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seaborn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matplotlib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identify patterns and relationships across sentiment regimes.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04800" y="495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31" name="Text 29"/>
          <p:cNvSpPr/>
          <p:nvPr/>
        </p:nvSpPr>
        <p:spPr>
          <a:xfrm>
            <a:off x="257175" y="4953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33450" y="4953000"/>
            <a:ext cx="10877550" cy="781050"/>
          </a:xfrm>
          <a:custGeom>
            <a:avLst/>
            <a:gdLst/>
            <a:ahLst/>
            <a:cxnLst/>
            <a:rect l="l" t="t" r="r" b="b"/>
            <a:pathLst>
              <a:path w="10877550" h="781050">
                <a:moveTo>
                  <a:pt x="38100" y="0"/>
                </a:moveTo>
                <a:lnTo>
                  <a:pt x="10801351" y="0"/>
                </a:lnTo>
                <a:cubicBezTo>
                  <a:pt x="10843434" y="0"/>
                  <a:pt x="10877550" y="34116"/>
                  <a:pt x="10877550" y="76199"/>
                </a:cubicBezTo>
                <a:lnTo>
                  <a:pt x="10877550" y="704851"/>
                </a:lnTo>
                <a:cubicBezTo>
                  <a:pt x="10877550" y="746934"/>
                  <a:pt x="10843434" y="781050"/>
                  <a:pt x="10801351" y="781050"/>
                </a:cubicBez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C7A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3450" y="4953000"/>
            <a:ext cx="38100" cy="781050"/>
          </a:xfrm>
          <a:custGeom>
            <a:avLst/>
            <a:gdLst/>
            <a:ahLst/>
            <a:cxnLst/>
            <a:rect l="l" t="t" r="r" b="b"/>
            <a:pathLst>
              <a:path w="38100" h="781050">
                <a:moveTo>
                  <a:pt x="38100" y="0"/>
                </a:moveTo>
                <a:lnTo>
                  <a:pt x="38100" y="0"/>
                </a:lnTo>
                <a:lnTo>
                  <a:pt x="38100" y="781050"/>
                </a:lnTo>
                <a:lnTo>
                  <a:pt x="38100" y="781050"/>
                </a:lnTo>
                <a:cubicBezTo>
                  <a:pt x="17072" y="781050"/>
                  <a:pt x="0" y="763978"/>
                  <a:pt x="0" y="742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34" name="Text 32"/>
          <p:cNvSpPr/>
          <p:nvPr/>
        </p:nvSpPr>
        <p:spPr>
          <a:xfrm>
            <a:off x="1066800" y="5067300"/>
            <a:ext cx="1072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Validation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66800" y="5372100"/>
            <a:ext cx="1070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Mann–Whitney U Test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validate performance differences, avoiding normality assumptions.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62125" cy="266700"/>
          </a:xfrm>
          <a:custGeom>
            <a:avLst/>
            <a:gdLst/>
            <a:ahLst/>
            <a:cxnLst/>
            <a:rect l="l" t="t" r="r" b="b"/>
            <a:pathLst>
              <a:path w="1762125" h="266700">
                <a:moveTo>
                  <a:pt x="38101" y="0"/>
                </a:moveTo>
                <a:lnTo>
                  <a:pt x="1724024" y="0"/>
                </a:lnTo>
                <a:cubicBezTo>
                  <a:pt x="1745067" y="0"/>
                  <a:pt x="1762125" y="17058"/>
                  <a:pt x="1762125" y="38101"/>
                </a:cubicBezTo>
                <a:lnTo>
                  <a:pt x="1762125" y="228599"/>
                </a:lnTo>
                <a:cubicBezTo>
                  <a:pt x="1762125" y="249642"/>
                  <a:pt x="1745067" y="266700"/>
                  <a:pt x="17240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57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828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Trader Performance: Fear vs Greed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51610"/>
            <a:ext cx="7532370" cy="4598670"/>
          </a:xfrm>
          <a:custGeom>
            <a:avLst/>
            <a:gdLst/>
            <a:ahLst/>
            <a:cxnLst/>
            <a:rect l="l" t="t" r="r" b="b"/>
            <a:pathLst>
              <a:path w="7532370" h="4598670">
                <a:moveTo>
                  <a:pt x="76200" y="0"/>
                </a:moveTo>
                <a:lnTo>
                  <a:pt x="7456170" y="0"/>
                </a:lnTo>
                <a:cubicBezTo>
                  <a:pt x="7498254" y="0"/>
                  <a:pt x="7532370" y="34116"/>
                  <a:pt x="7532370" y="76200"/>
                </a:cubicBezTo>
                <a:lnTo>
                  <a:pt x="7532370" y="4522470"/>
                </a:lnTo>
                <a:cubicBezTo>
                  <a:pt x="7532370" y="4564554"/>
                  <a:pt x="7498254" y="4598670"/>
                  <a:pt x="7456170" y="4598670"/>
                </a:cubicBezTo>
                <a:lnTo>
                  <a:pt x="76200" y="4598670"/>
                </a:lnTo>
                <a:cubicBezTo>
                  <a:pt x="34116" y="4598670"/>
                  <a:pt x="0" y="4564554"/>
                  <a:pt x="0" y="452247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1020" y="1607820"/>
            <a:ext cx="731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PnL by Sentiment Regime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1020" y="1874520"/>
            <a:ext cx="728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closed PnL per trade across sentiment categories</a:t>
            </a:r>
            <a:endParaRPr lang="en-US" sz="1600" dirty="0"/>
          </a:p>
        </p:txBody>
      </p:sp>
      <p:pic>
        <p:nvPicPr>
          <p:cNvPr id="8" name="Image 0" descr="https://kimi-img.moonshot.cn/pub/slides/26-01-15-21:32:54-d5kep1mlv3k2q6rrjfug.png">    </p:cNvPr>
          <p:cNvPicPr>
            <a:picLocks noChangeAspect="1"/>
          </p:cNvPicPr>
          <p:nvPr/>
        </p:nvPicPr>
        <p:blipFill>
          <a:blip r:embed="rId1"/>
          <a:srcRect l="25" r="25" t="0" b="0"/>
          <a:stretch/>
        </p:blipFill>
        <p:spPr>
          <a:xfrm>
            <a:off x="541020" y="2179320"/>
            <a:ext cx="7219950" cy="3714750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8172450" y="1447800"/>
            <a:ext cx="3638550" cy="1143000"/>
          </a:xfrm>
          <a:custGeom>
            <a:avLst/>
            <a:gdLst/>
            <a:ahLst/>
            <a:cxnLst/>
            <a:rect l="l" t="t" r="r" b="b"/>
            <a:pathLst>
              <a:path w="3638550" h="1143000">
                <a:moveTo>
                  <a:pt x="38100" y="0"/>
                </a:moveTo>
                <a:lnTo>
                  <a:pt x="3562346" y="0"/>
                </a:lnTo>
                <a:cubicBezTo>
                  <a:pt x="3604432" y="0"/>
                  <a:pt x="3638550" y="34118"/>
                  <a:pt x="3638550" y="76204"/>
                </a:cubicBezTo>
                <a:lnTo>
                  <a:pt x="3638550" y="1066796"/>
                </a:lnTo>
                <a:cubicBezTo>
                  <a:pt x="3638550" y="1108882"/>
                  <a:pt x="3604432" y="1143000"/>
                  <a:pt x="35623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172450" y="14478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1" name="Shape 8"/>
          <p:cNvSpPr/>
          <p:nvPr/>
        </p:nvSpPr>
        <p:spPr>
          <a:xfrm>
            <a:off x="8391525" y="16383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2" name="Text 9"/>
          <p:cNvSpPr/>
          <p:nvPr/>
        </p:nvSpPr>
        <p:spPr>
          <a:xfrm>
            <a:off x="8658225" y="1600200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43900" y="1943100"/>
            <a:ext cx="3390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Traders generate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significantly higher average PnL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during Greed periods.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57210" y="2785826"/>
            <a:ext cx="3646170" cy="1798320"/>
          </a:xfrm>
          <a:custGeom>
            <a:avLst/>
            <a:gdLst/>
            <a:ahLst/>
            <a:cxnLst/>
            <a:rect l="l" t="t" r="r" b="b"/>
            <a:pathLst>
              <a:path w="3646170" h="1798320">
                <a:moveTo>
                  <a:pt x="76195" y="0"/>
                </a:moveTo>
                <a:lnTo>
                  <a:pt x="3569975" y="0"/>
                </a:lnTo>
                <a:cubicBezTo>
                  <a:pt x="3612056" y="0"/>
                  <a:pt x="3646170" y="34114"/>
                  <a:pt x="3646170" y="76195"/>
                </a:cubicBezTo>
                <a:lnTo>
                  <a:pt x="3646170" y="1722125"/>
                </a:lnTo>
                <a:cubicBezTo>
                  <a:pt x="3646170" y="1764206"/>
                  <a:pt x="3612056" y="1798320"/>
                  <a:pt x="3569975" y="1798320"/>
                </a:cubicBezTo>
                <a:lnTo>
                  <a:pt x="76195" y="1798320"/>
                </a:lnTo>
                <a:cubicBezTo>
                  <a:pt x="34114" y="1798320"/>
                  <a:pt x="0" y="1764206"/>
                  <a:pt x="0" y="172212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13420" y="2942034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13420" y="3303984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Fear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158181" y="3284934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-$12.40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13420" y="3608784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198900" y="3589734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-$8.20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13420" y="3913584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142464" y="3894534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+$18.60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13420" y="4218384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Greed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152466" y="4199334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+$31.20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57210" y="4782979"/>
            <a:ext cx="3646170" cy="1264920"/>
          </a:xfrm>
          <a:custGeom>
            <a:avLst/>
            <a:gdLst/>
            <a:ahLst/>
            <a:cxnLst/>
            <a:rect l="l" t="t" r="r" b="b"/>
            <a:pathLst>
              <a:path w="3646170" h="1264920">
                <a:moveTo>
                  <a:pt x="76199" y="0"/>
                </a:moveTo>
                <a:lnTo>
                  <a:pt x="3569971" y="0"/>
                </a:lnTo>
                <a:cubicBezTo>
                  <a:pt x="3612055" y="0"/>
                  <a:pt x="3646170" y="34115"/>
                  <a:pt x="3646170" y="76199"/>
                </a:cubicBezTo>
                <a:lnTo>
                  <a:pt x="3646170" y="1188721"/>
                </a:lnTo>
                <a:cubicBezTo>
                  <a:pt x="3646170" y="1230805"/>
                  <a:pt x="3612055" y="1264920"/>
                  <a:pt x="356997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13420" y="4939189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13420" y="5243989"/>
            <a:ext cx="34004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sentiment creates asymmetric outcomes. Greed favors momentum strategies, while Fear increases loss aversion.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714500" cy="266700"/>
          </a:xfrm>
          <a:custGeom>
            <a:avLst/>
            <a:gdLst/>
            <a:ahLst/>
            <a:cxnLst/>
            <a:rect l="l" t="t" r="r" b="b"/>
            <a:pathLst>
              <a:path w="1714500" h="266700">
                <a:moveTo>
                  <a:pt x="38101" y="0"/>
                </a:moveTo>
                <a:lnTo>
                  <a:pt x="1676399" y="0"/>
                </a:lnTo>
                <a:cubicBezTo>
                  <a:pt x="1697442" y="0"/>
                  <a:pt x="1714500" y="17058"/>
                  <a:pt x="1714500" y="38101"/>
                </a:cubicBezTo>
                <a:lnTo>
                  <a:pt x="1714500" y="228599"/>
                </a:lnTo>
                <a:cubicBezTo>
                  <a:pt x="1714500" y="249642"/>
                  <a:pt x="1697442" y="266700"/>
                  <a:pt x="16763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57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7811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PROFITABILITY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 Rate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2"/>
            <a:ext cx="7456170" cy="4874895"/>
          </a:xfrm>
          <a:custGeom>
            <a:avLst/>
            <a:gdLst/>
            <a:ahLst/>
            <a:cxnLst/>
            <a:rect l="l" t="t" r="r" b="b"/>
            <a:pathLst>
              <a:path w="7456170" h="4874895">
                <a:moveTo>
                  <a:pt x="76195" y="0"/>
                </a:moveTo>
                <a:lnTo>
                  <a:pt x="7379975" y="0"/>
                </a:lnTo>
                <a:cubicBezTo>
                  <a:pt x="7422057" y="0"/>
                  <a:pt x="7456170" y="34113"/>
                  <a:pt x="7456170" y="76195"/>
                </a:cubicBezTo>
                <a:lnTo>
                  <a:pt x="7456170" y="4798700"/>
                </a:lnTo>
                <a:cubicBezTo>
                  <a:pt x="7456170" y="4840782"/>
                  <a:pt x="7422057" y="4874895"/>
                  <a:pt x="7379975" y="4874895"/>
                </a:cubicBezTo>
                <a:lnTo>
                  <a:pt x="76195" y="4874895"/>
                </a:lnTo>
                <a:cubicBezTo>
                  <a:pt x="34113" y="4874895"/>
                  <a:pt x="0" y="4840782"/>
                  <a:pt x="0" y="479870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8B8C7A">
              <a:alpha val="10196"/>
            </a:srgbClr>
          </a:solidFill>
          <a:ln w="10160">
            <a:solidFill>
              <a:srgbClr val="8B8C7A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9120" y="1760220"/>
            <a:ext cx="716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 Win Rate by Sentiment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9120" y="2026920"/>
            <a:ext cx="713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Percentage of profitable trades across sentiment regimes</a:t>
            </a:r>
            <a:endParaRPr lang="en-US" sz="1600" dirty="0"/>
          </a:p>
        </p:txBody>
      </p:sp>
      <p:pic>
        <p:nvPicPr>
          <p:cNvPr id="8" name="Image 0" descr="https://kimi-img.moonshot.cn/pub/slides/26-01-15-21:32:54-d5kep1h36akb5afuamt0.png">    </p:cNvPr>
          <p:cNvPicPr>
            <a:picLocks noChangeAspect="1"/>
          </p:cNvPicPr>
          <p:nvPr/>
        </p:nvPicPr>
        <p:blipFill>
          <a:blip r:embed="rId1"/>
          <a:srcRect l="46" r="46" t="0" b="0"/>
          <a:stretch/>
        </p:blipFill>
        <p:spPr>
          <a:xfrm>
            <a:off x="579120" y="2331720"/>
            <a:ext cx="7067550" cy="3914775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8096250" y="1562102"/>
            <a:ext cx="3714750" cy="1143000"/>
          </a:xfrm>
          <a:custGeom>
            <a:avLst/>
            <a:gdLst/>
            <a:ahLst/>
            <a:cxnLst/>
            <a:rect l="l" t="t" r="r" b="b"/>
            <a:pathLst>
              <a:path w="3714750" h="1143000">
                <a:moveTo>
                  <a:pt x="38100" y="0"/>
                </a:moveTo>
                <a:lnTo>
                  <a:pt x="3638546" y="0"/>
                </a:lnTo>
                <a:cubicBezTo>
                  <a:pt x="3680632" y="0"/>
                  <a:pt x="3714750" y="34118"/>
                  <a:pt x="3714750" y="76204"/>
                </a:cubicBezTo>
                <a:lnTo>
                  <a:pt x="3714750" y="1066796"/>
                </a:lnTo>
                <a:cubicBezTo>
                  <a:pt x="3714750" y="1108882"/>
                  <a:pt x="3680632" y="1143000"/>
                  <a:pt x="36385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096250" y="1562102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1" name="Shape 8"/>
          <p:cNvSpPr/>
          <p:nvPr/>
        </p:nvSpPr>
        <p:spPr>
          <a:xfrm>
            <a:off x="8291513" y="17526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2" name="Text 9"/>
          <p:cNvSpPr/>
          <p:nvPr/>
        </p:nvSpPr>
        <p:spPr>
          <a:xfrm>
            <a:off x="8582025" y="1714502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67700" y="2057402"/>
            <a:ext cx="3467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Trades are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likely to be profitable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during Greed regimes.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81010" y="2861312"/>
            <a:ext cx="3722370" cy="2369820"/>
          </a:xfrm>
          <a:custGeom>
            <a:avLst/>
            <a:gdLst/>
            <a:ahLst/>
            <a:cxnLst/>
            <a:rect l="l" t="t" r="r" b="b"/>
            <a:pathLst>
              <a:path w="3722370" h="2369820">
                <a:moveTo>
                  <a:pt x="76190" y="0"/>
                </a:moveTo>
                <a:lnTo>
                  <a:pt x="3646180" y="0"/>
                </a:lnTo>
                <a:cubicBezTo>
                  <a:pt x="3688231" y="0"/>
                  <a:pt x="3722370" y="34139"/>
                  <a:pt x="3722370" y="76190"/>
                </a:cubicBezTo>
                <a:lnTo>
                  <a:pt x="3722370" y="2293630"/>
                </a:lnTo>
                <a:cubicBezTo>
                  <a:pt x="3722370" y="2335709"/>
                  <a:pt x="3688259" y="2369820"/>
                  <a:pt x="3646180" y="2369820"/>
                </a:cubicBezTo>
                <a:lnTo>
                  <a:pt x="76190" y="2369820"/>
                </a:lnTo>
                <a:cubicBezTo>
                  <a:pt x="34139" y="2369820"/>
                  <a:pt x="0" y="2335681"/>
                  <a:pt x="0" y="2293630"/>
                </a:cubicBezTo>
                <a:lnTo>
                  <a:pt x="0" y="76190"/>
                </a:lnTo>
                <a:cubicBezTo>
                  <a:pt x="0" y="34111"/>
                  <a:pt x="34111" y="0"/>
                  <a:pt x="76190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37220" y="3017520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 Rate Statistics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37220" y="337947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Fear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246287" y="336042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38.2%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37220" y="3627120"/>
            <a:ext cx="3409950" cy="76200"/>
          </a:xfrm>
          <a:custGeom>
            <a:avLst/>
            <a:gdLst/>
            <a:ahLst/>
            <a:cxnLst/>
            <a:rect l="l" t="t" r="r" b="b"/>
            <a:pathLst>
              <a:path w="3409950" h="762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38100"/>
                </a:lnTo>
                <a:cubicBezTo>
                  <a:pt x="3409950" y="59128"/>
                  <a:pt x="3392878" y="76200"/>
                  <a:pt x="3371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Shape 16"/>
          <p:cNvSpPr/>
          <p:nvPr/>
        </p:nvSpPr>
        <p:spPr>
          <a:xfrm>
            <a:off x="8237220" y="3627120"/>
            <a:ext cx="1304925" cy="76200"/>
          </a:xfrm>
          <a:custGeom>
            <a:avLst/>
            <a:gdLst/>
            <a:ahLst/>
            <a:cxnLst/>
            <a:rect l="l" t="t" r="r" b="b"/>
            <a:pathLst>
              <a:path w="1304925" h="76200">
                <a:moveTo>
                  <a:pt x="38100" y="0"/>
                </a:moveTo>
                <a:lnTo>
                  <a:pt x="1266825" y="0"/>
                </a:lnTo>
                <a:cubicBezTo>
                  <a:pt x="1287853" y="0"/>
                  <a:pt x="1304925" y="17072"/>
                  <a:pt x="1304925" y="38100"/>
                </a:cubicBezTo>
                <a:lnTo>
                  <a:pt x="1304925" y="38100"/>
                </a:lnTo>
                <a:cubicBezTo>
                  <a:pt x="1304925" y="59128"/>
                  <a:pt x="1287853" y="76200"/>
                  <a:pt x="12668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20" name="Text 17"/>
          <p:cNvSpPr/>
          <p:nvPr/>
        </p:nvSpPr>
        <p:spPr>
          <a:xfrm>
            <a:off x="8237220" y="3836670"/>
            <a:ext cx="31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261884" y="3817620"/>
            <a:ext cx="466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43.7%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237220" y="4084320"/>
            <a:ext cx="3409950" cy="76200"/>
          </a:xfrm>
          <a:custGeom>
            <a:avLst/>
            <a:gdLst/>
            <a:ahLst/>
            <a:cxnLst/>
            <a:rect l="l" t="t" r="r" b="b"/>
            <a:pathLst>
              <a:path w="3409950" h="762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38100"/>
                </a:lnTo>
                <a:cubicBezTo>
                  <a:pt x="3409950" y="59128"/>
                  <a:pt x="3392878" y="76200"/>
                  <a:pt x="3371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0"/>
          <p:cNvSpPr/>
          <p:nvPr/>
        </p:nvSpPr>
        <p:spPr>
          <a:xfrm>
            <a:off x="8237220" y="4084320"/>
            <a:ext cx="1495425" cy="76200"/>
          </a:xfrm>
          <a:custGeom>
            <a:avLst/>
            <a:gdLst/>
            <a:ahLst/>
            <a:cxnLst/>
            <a:rect l="l" t="t" r="r" b="b"/>
            <a:pathLst>
              <a:path w="1495425" h="76200">
                <a:moveTo>
                  <a:pt x="38100" y="0"/>
                </a:moveTo>
                <a:lnTo>
                  <a:pt x="1457325" y="0"/>
                </a:lnTo>
                <a:cubicBezTo>
                  <a:pt x="1478353" y="0"/>
                  <a:pt x="1495425" y="17072"/>
                  <a:pt x="1495425" y="38100"/>
                </a:cubicBezTo>
                <a:lnTo>
                  <a:pt x="1495425" y="38100"/>
                </a:lnTo>
                <a:cubicBezTo>
                  <a:pt x="1495425" y="59128"/>
                  <a:pt x="1478353" y="76200"/>
                  <a:pt x="14573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24" name="Text 21"/>
          <p:cNvSpPr/>
          <p:nvPr/>
        </p:nvSpPr>
        <p:spPr>
          <a:xfrm>
            <a:off x="8237220" y="429387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246048" y="4274820"/>
            <a:ext cx="48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58.4%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237220" y="4541520"/>
            <a:ext cx="3409950" cy="76200"/>
          </a:xfrm>
          <a:custGeom>
            <a:avLst/>
            <a:gdLst/>
            <a:ahLst/>
            <a:cxnLst/>
            <a:rect l="l" t="t" r="r" b="b"/>
            <a:pathLst>
              <a:path w="3409950" h="762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38100"/>
                </a:lnTo>
                <a:cubicBezTo>
                  <a:pt x="3409950" y="59128"/>
                  <a:pt x="3392878" y="76200"/>
                  <a:pt x="3371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4"/>
          <p:cNvSpPr/>
          <p:nvPr/>
        </p:nvSpPr>
        <p:spPr>
          <a:xfrm>
            <a:off x="8237220" y="4541520"/>
            <a:ext cx="1990725" cy="76200"/>
          </a:xfrm>
          <a:custGeom>
            <a:avLst/>
            <a:gdLst/>
            <a:ahLst/>
            <a:cxnLst/>
            <a:rect l="l" t="t" r="r" b="b"/>
            <a:pathLst>
              <a:path w="1990725" h="76200">
                <a:moveTo>
                  <a:pt x="38100" y="0"/>
                </a:moveTo>
                <a:lnTo>
                  <a:pt x="1952625" y="0"/>
                </a:lnTo>
                <a:cubicBezTo>
                  <a:pt x="1973653" y="0"/>
                  <a:pt x="1990725" y="17072"/>
                  <a:pt x="1990725" y="38100"/>
                </a:cubicBezTo>
                <a:lnTo>
                  <a:pt x="1990725" y="38100"/>
                </a:lnTo>
                <a:cubicBezTo>
                  <a:pt x="1990725" y="59128"/>
                  <a:pt x="1973653" y="76200"/>
                  <a:pt x="19526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28" name="Text 25"/>
          <p:cNvSpPr/>
          <p:nvPr/>
        </p:nvSpPr>
        <p:spPr>
          <a:xfrm>
            <a:off x="8237220" y="4751070"/>
            <a:ext cx="933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Greed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280577" y="4732020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62.1%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237220" y="4998720"/>
            <a:ext cx="3409950" cy="76200"/>
          </a:xfrm>
          <a:custGeom>
            <a:avLst/>
            <a:gdLst/>
            <a:ahLst/>
            <a:cxnLst/>
            <a:rect l="l" t="t" r="r" b="b"/>
            <a:pathLst>
              <a:path w="3409950" h="76200">
                <a:moveTo>
                  <a:pt x="38100" y="0"/>
                </a:moveTo>
                <a:lnTo>
                  <a:pt x="3371850" y="0"/>
                </a:lnTo>
                <a:cubicBezTo>
                  <a:pt x="3392878" y="0"/>
                  <a:pt x="3409950" y="17072"/>
                  <a:pt x="3409950" y="38100"/>
                </a:cubicBezTo>
                <a:lnTo>
                  <a:pt x="3409950" y="38100"/>
                </a:lnTo>
                <a:cubicBezTo>
                  <a:pt x="3409950" y="59128"/>
                  <a:pt x="3392878" y="76200"/>
                  <a:pt x="33718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Shape 28"/>
          <p:cNvSpPr/>
          <p:nvPr/>
        </p:nvSpPr>
        <p:spPr>
          <a:xfrm>
            <a:off x="8237220" y="4998720"/>
            <a:ext cx="2124075" cy="76200"/>
          </a:xfrm>
          <a:custGeom>
            <a:avLst/>
            <a:gdLst/>
            <a:ahLst/>
            <a:cxnLst/>
            <a:rect l="l" t="t" r="r" b="b"/>
            <a:pathLst>
              <a:path w="2124075" h="76200">
                <a:moveTo>
                  <a:pt x="38100" y="0"/>
                </a:moveTo>
                <a:lnTo>
                  <a:pt x="2085975" y="0"/>
                </a:lnTo>
                <a:cubicBezTo>
                  <a:pt x="2107003" y="0"/>
                  <a:pt x="2124075" y="17072"/>
                  <a:pt x="2124075" y="38100"/>
                </a:cubicBezTo>
                <a:lnTo>
                  <a:pt x="2124075" y="38100"/>
                </a:lnTo>
                <a:cubicBezTo>
                  <a:pt x="2124075" y="59128"/>
                  <a:pt x="2107003" y="76200"/>
                  <a:pt x="20859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32" name="Shape 29"/>
          <p:cNvSpPr/>
          <p:nvPr/>
        </p:nvSpPr>
        <p:spPr>
          <a:xfrm>
            <a:off x="8081010" y="5391153"/>
            <a:ext cx="3722370" cy="1055370"/>
          </a:xfrm>
          <a:custGeom>
            <a:avLst/>
            <a:gdLst/>
            <a:ahLst/>
            <a:cxnLst/>
            <a:rect l="l" t="t" r="r" b="b"/>
            <a:pathLst>
              <a:path w="3722370" h="1055370">
                <a:moveTo>
                  <a:pt x="76198" y="0"/>
                </a:moveTo>
                <a:lnTo>
                  <a:pt x="3646172" y="0"/>
                </a:lnTo>
                <a:cubicBezTo>
                  <a:pt x="3688255" y="0"/>
                  <a:pt x="3722370" y="34115"/>
                  <a:pt x="3722370" y="76198"/>
                </a:cubicBezTo>
                <a:lnTo>
                  <a:pt x="3722370" y="979172"/>
                </a:lnTo>
                <a:cubicBezTo>
                  <a:pt x="3722370" y="1021255"/>
                  <a:pt x="3688255" y="1055370"/>
                  <a:pt x="3646172" y="1055370"/>
                </a:cubicBezTo>
                <a:lnTo>
                  <a:pt x="76198" y="1055370"/>
                </a:lnTo>
                <a:cubicBezTo>
                  <a:pt x="34115" y="1055370"/>
                  <a:pt x="0" y="1021255"/>
                  <a:pt x="0" y="9791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37220" y="5547361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Behavioral Impact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37220" y="5852161"/>
            <a:ext cx="3476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directly influences trader decision-making, with Greed fostering confidence and Fear triggering hesitation.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190625" cy="266700"/>
          </a:xfrm>
          <a:custGeom>
            <a:avLst/>
            <a:gdLst/>
            <a:ahLst/>
            <a:cxnLst/>
            <a:rect l="l" t="t" r="r" b="b"/>
            <a:pathLst>
              <a:path w="1190625" h="266700">
                <a:moveTo>
                  <a:pt x="38101" y="0"/>
                </a:moveTo>
                <a:lnTo>
                  <a:pt x="1152524" y="0"/>
                </a:lnTo>
                <a:cubicBezTo>
                  <a:pt x="1173567" y="0"/>
                  <a:pt x="1190625" y="17058"/>
                  <a:pt x="1190625" y="38101"/>
                </a:cubicBezTo>
                <a:lnTo>
                  <a:pt x="1190625" y="228599"/>
                </a:lnTo>
                <a:cubicBezTo>
                  <a:pt x="1190625" y="249642"/>
                  <a:pt x="1173567" y="266700"/>
                  <a:pt x="11525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57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257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DYNAMICS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Behavior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7532370" cy="4417695"/>
          </a:xfrm>
          <a:custGeom>
            <a:avLst/>
            <a:gdLst/>
            <a:ahLst/>
            <a:cxnLst/>
            <a:rect l="l" t="t" r="r" b="b"/>
            <a:pathLst>
              <a:path w="7532370" h="4417695">
                <a:moveTo>
                  <a:pt x="76205" y="0"/>
                </a:moveTo>
                <a:lnTo>
                  <a:pt x="7456165" y="0"/>
                </a:lnTo>
                <a:cubicBezTo>
                  <a:pt x="7498252" y="0"/>
                  <a:pt x="7532370" y="34118"/>
                  <a:pt x="7532370" y="76205"/>
                </a:cubicBezTo>
                <a:lnTo>
                  <a:pt x="7532370" y="4341490"/>
                </a:lnTo>
                <a:cubicBezTo>
                  <a:pt x="7532370" y="4383577"/>
                  <a:pt x="7498252" y="4417695"/>
                  <a:pt x="7456165" y="4417695"/>
                </a:cubicBezTo>
                <a:lnTo>
                  <a:pt x="76205" y="4417695"/>
                </a:lnTo>
                <a:cubicBezTo>
                  <a:pt x="34118" y="4417695"/>
                  <a:pt x="0" y="4383577"/>
                  <a:pt x="0" y="4341490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9120" y="1760218"/>
            <a:ext cx="723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PnL by Risk Bucket &amp; Sentiment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9120" y="2026918"/>
            <a:ext cx="721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buckets based on position size quartiles</a:t>
            </a:r>
            <a:endParaRPr lang="en-US" sz="1600" dirty="0"/>
          </a:p>
        </p:txBody>
      </p:sp>
      <p:pic>
        <p:nvPicPr>
          <p:cNvPr id="8" name="Image 0" descr="https://kimi-img.moonshot.cn/pub/slides/26-01-15-21:32:54-d5kep1j67ti0spv6ekn0.png">    </p:cNvPr>
          <p:cNvPicPr>
            <a:picLocks noChangeAspect="1"/>
          </p:cNvPicPr>
          <p:nvPr/>
        </p:nvPicPr>
        <p:blipFill>
          <a:blip r:embed="rId1"/>
          <a:srcRect l="57" r="57" t="0" b="0"/>
          <a:stretch/>
        </p:blipFill>
        <p:spPr>
          <a:xfrm>
            <a:off x="579120" y="2369818"/>
            <a:ext cx="7143750" cy="3419475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8172450" y="1562100"/>
            <a:ext cx="3638550" cy="1143000"/>
          </a:xfrm>
          <a:custGeom>
            <a:avLst/>
            <a:gdLst/>
            <a:ahLst/>
            <a:cxnLst/>
            <a:rect l="l" t="t" r="r" b="b"/>
            <a:pathLst>
              <a:path w="3638550" h="1143000">
                <a:moveTo>
                  <a:pt x="38100" y="0"/>
                </a:moveTo>
                <a:lnTo>
                  <a:pt x="3562346" y="0"/>
                </a:lnTo>
                <a:cubicBezTo>
                  <a:pt x="3604432" y="0"/>
                  <a:pt x="3638550" y="34118"/>
                  <a:pt x="3638550" y="76204"/>
                </a:cubicBezTo>
                <a:lnTo>
                  <a:pt x="3638550" y="1066796"/>
                </a:lnTo>
                <a:cubicBezTo>
                  <a:pt x="3638550" y="1108882"/>
                  <a:pt x="3604432" y="1143000"/>
                  <a:pt x="35623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172450" y="15621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1" name="Shape 8"/>
          <p:cNvSpPr/>
          <p:nvPr/>
        </p:nvSpPr>
        <p:spPr>
          <a:xfrm>
            <a:off x="8343900" y="17526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2" name="Text 9"/>
          <p:cNvSpPr/>
          <p:nvPr/>
        </p:nvSpPr>
        <p:spPr>
          <a:xfrm>
            <a:off x="8658225" y="1714500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43900" y="2057400"/>
            <a:ext cx="3390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Risk-taking is rewarded during Greed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penalized during Fear.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57210" y="2861310"/>
            <a:ext cx="3646170" cy="1912620"/>
          </a:xfrm>
          <a:custGeom>
            <a:avLst/>
            <a:gdLst/>
            <a:ahLst/>
            <a:cxnLst/>
            <a:rect l="l" t="t" r="r" b="b"/>
            <a:pathLst>
              <a:path w="3646170" h="1912620">
                <a:moveTo>
                  <a:pt x="76199" y="0"/>
                </a:moveTo>
                <a:lnTo>
                  <a:pt x="3569971" y="0"/>
                </a:lnTo>
                <a:cubicBezTo>
                  <a:pt x="3612055" y="0"/>
                  <a:pt x="3646170" y="34115"/>
                  <a:pt x="3646170" y="76199"/>
                </a:cubicBezTo>
                <a:lnTo>
                  <a:pt x="3646170" y="1836421"/>
                </a:lnTo>
                <a:cubicBezTo>
                  <a:pt x="3646170" y="1878505"/>
                  <a:pt x="3612055" y="1912620"/>
                  <a:pt x="3569971" y="1912620"/>
                </a:cubicBezTo>
                <a:lnTo>
                  <a:pt x="76199" y="1912620"/>
                </a:lnTo>
                <a:cubicBezTo>
                  <a:pt x="34115" y="1912620"/>
                  <a:pt x="0" y="1878505"/>
                  <a:pt x="0" y="18364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13420" y="3017518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Bucket Definitions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313420" y="33604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17" name="Text 14"/>
          <p:cNvSpPr/>
          <p:nvPr/>
        </p:nvSpPr>
        <p:spPr>
          <a:xfrm>
            <a:off x="8284845" y="3360418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18220" y="3379468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Risk: $0-$500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13420" y="37033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20" name="Text 17"/>
          <p:cNvSpPr/>
          <p:nvPr/>
        </p:nvSpPr>
        <p:spPr>
          <a:xfrm>
            <a:off x="8284845" y="3703318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18220" y="3722368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Medium: $500-$2k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313420" y="40462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23" name="Text 20"/>
          <p:cNvSpPr/>
          <p:nvPr/>
        </p:nvSpPr>
        <p:spPr>
          <a:xfrm>
            <a:off x="8284845" y="4046218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618220" y="4065268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High: $2k-$10k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313420" y="43891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26" name="Text 23"/>
          <p:cNvSpPr/>
          <p:nvPr/>
        </p:nvSpPr>
        <p:spPr>
          <a:xfrm>
            <a:off x="8284845" y="4389118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618220" y="4408168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Extreme: $10k+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157210" y="4933951"/>
            <a:ext cx="3646170" cy="1055370"/>
          </a:xfrm>
          <a:custGeom>
            <a:avLst/>
            <a:gdLst/>
            <a:ahLst/>
            <a:cxnLst/>
            <a:rect l="l" t="t" r="r" b="b"/>
            <a:pathLst>
              <a:path w="3646170" h="1055370">
                <a:moveTo>
                  <a:pt x="76198" y="0"/>
                </a:moveTo>
                <a:lnTo>
                  <a:pt x="3569972" y="0"/>
                </a:lnTo>
                <a:cubicBezTo>
                  <a:pt x="3612055" y="0"/>
                  <a:pt x="3646170" y="34115"/>
                  <a:pt x="3646170" y="76198"/>
                </a:cubicBezTo>
                <a:lnTo>
                  <a:pt x="3646170" y="979172"/>
                </a:lnTo>
                <a:cubicBezTo>
                  <a:pt x="3646170" y="1021255"/>
                  <a:pt x="3612055" y="1055370"/>
                  <a:pt x="3569972" y="1055370"/>
                </a:cubicBezTo>
                <a:lnTo>
                  <a:pt x="76198" y="1055370"/>
                </a:lnTo>
                <a:cubicBezTo>
                  <a:pt x="34115" y="1055370"/>
                  <a:pt x="0" y="1021255"/>
                  <a:pt x="0" y="9791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13420" y="5090159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Asymmetric Dynamics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313420" y="5394959"/>
            <a:ext cx="3400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context determines whether risk-taking is smart or reckless. Size your bets accordingly.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711" y="355711"/>
            <a:ext cx="1734092" cy="248998"/>
          </a:xfrm>
          <a:custGeom>
            <a:avLst/>
            <a:gdLst/>
            <a:ahLst/>
            <a:cxnLst/>
            <a:rect l="l" t="t" r="r" b="b"/>
            <a:pathLst>
              <a:path w="1734092" h="248998">
                <a:moveTo>
                  <a:pt x="35572" y="0"/>
                </a:moveTo>
                <a:lnTo>
                  <a:pt x="1698520" y="0"/>
                </a:lnTo>
                <a:cubicBezTo>
                  <a:pt x="1718166" y="0"/>
                  <a:pt x="1734092" y="15926"/>
                  <a:pt x="1734092" y="35572"/>
                </a:cubicBezTo>
                <a:lnTo>
                  <a:pt x="1734092" y="213426"/>
                </a:lnTo>
                <a:cubicBezTo>
                  <a:pt x="1734092" y="233072"/>
                  <a:pt x="1718166" y="248998"/>
                  <a:pt x="1698520" y="248998"/>
                </a:cubicBezTo>
                <a:lnTo>
                  <a:pt x="35572" y="248998"/>
                </a:lnTo>
                <a:cubicBezTo>
                  <a:pt x="15926" y="248998"/>
                  <a:pt x="0" y="233072"/>
                  <a:pt x="0" y="213426"/>
                </a:cubicBezTo>
                <a:lnTo>
                  <a:pt x="0" y="35572"/>
                </a:lnTo>
                <a:cubicBezTo>
                  <a:pt x="0" y="15939"/>
                  <a:pt x="15939" y="0"/>
                  <a:pt x="35572" y="0"/>
                </a:cubicBezTo>
                <a:close/>
              </a:path>
            </a:pathLst>
          </a:custGeom>
          <a:solidFill>
            <a:srgbClr val="C5A57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55711" y="355711"/>
            <a:ext cx="1796341" cy="248998"/>
          </a:xfrm>
          <a:prstGeom prst="rect">
            <a:avLst/>
          </a:prstGeom>
          <a:noFill/>
          <a:ln/>
        </p:spPr>
        <p:txBody>
          <a:bodyPr wrap="square" lIns="106713" tIns="35571" rIns="106713" bIns="35571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DISTRIBUTIONAL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5711" y="711422"/>
            <a:ext cx="11694004" cy="53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6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PnL Distribution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9268" y="1461973"/>
            <a:ext cx="7503727" cy="5031534"/>
          </a:xfrm>
          <a:custGeom>
            <a:avLst/>
            <a:gdLst/>
            <a:ahLst/>
            <a:cxnLst/>
            <a:rect l="l" t="t" r="r" b="b"/>
            <a:pathLst>
              <a:path w="7503727" h="5031534">
                <a:moveTo>
                  <a:pt x="71146" y="0"/>
                </a:moveTo>
                <a:lnTo>
                  <a:pt x="7432581" y="0"/>
                </a:lnTo>
                <a:cubicBezTo>
                  <a:pt x="7471874" y="0"/>
                  <a:pt x="7503727" y="31853"/>
                  <a:pt x="7503727" y="71146"/>
                </a:cubicBezTo>
                <a:lnTo>
                  <a:pt x="7503727" y="4960388"/>
                </a:lnTo>
                <a:cubicBezTo>
                  <a:pt x="7503727" y="4999681"/>
                  <a:pt x="7471874" y="5031534"/>
                  <a:pt x="7432581" y="5031534"/>
                </a:cubicBezTo>
                <a:lnTo>
                  <a:pt x="71146" y="5031534"/>
                </a:lnTo>
                <a:cubicBezTo>
                  <a:pt x="31853" y="5031534"/>
                  <a:pt x="0" y="4999681"/>
                  <a:pt x="0" y="4960388"/>
                </a:cubicBezTo>
                <a:lnTo>
                  <a:pt x="0" y="71146"/>
                </a:lnTo>
                <a:cubicBezTo>
                  <a:pt x="0" y="31879"/>
                  <a:pt x="31879" y="0"/>
                  <a:pt x="71146" y="0"/>
                </a:cubicBezTo>
                <a:close/>
              </a:path>
            </a:pathLst>
          </a:custGeom>
          <a:solidFill>
            <a:srgbClr val="8B8C7A">
              <a:alpha val="10196"/>
            </a:srgbClr>
          </a:solidFill>
          <a:ln w="10160">
            <a:solidFill>
              <a:srgbClr val="8B8C7A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0681" y="1643384"/>
            <a:ext cx="7229829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PnL Distribution by Sentiment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0681" y="1892382"/>
            <a:ext cx="7203151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 plots showing median, quartiles, and outliers</a:t>
            </a:r>
            <a:endParaRPr lang="en-US" sz="1600" dirty="0"/>
          </a:p>
        </p:txBody>
      </p:sp>
      <p:pic>
        <p:nvPicPr>
          <p:cNvPr id="8" name="Image 0" descr="https://kimi-img.moonshot.cn/pub/slides/26-01-15-21:32:54-d5kep1nahd89s1dpl7tg.png">    </p:cNvPr>
          <p:cNvPicPr>
            <a:picLocks noChangeAspect="1"/>
          </p:cNvPicPr>
          <p:nvPr/>
        </p:nvPicPr>
        <p:blipFill>
          <a:blip r:embed="rId1"/>
          <a:srcRect l="0" r="0" t="5" b="5"/>
          <a:stretch/>
        </p:blipFill>
        <p:spPr>
          <a:xfrm>
            <a:off x="540681" y="2176951"/>
            <a:ext cx="6598442" cy="4135142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8096431" y="1458416"/>
            <a:ext cx="3734967" cy="1067133"/>
          </a:xfrm>
          <a:custGeom>
            <a:avLst/>
            <a:gdLst/>
            <a:ahLst/>
            <a:cxnLst/>
            <a:rect l="l" t="t" r="r" b="b"/>
            <a:pathLst>
              <a:path w="3734967" h="1067133">
                <a:moveTo>
                  <a:pt x="35571" y="0"/>
                </a:moveTo>
                <a:lnTo>
                  <a:pt x="3663821" y="0"/>
                </a:lnTo>
                <a:cubicBezTo>
                  <a:pt x="3703114" y="0"/>
                  <a:pt x="3734967" y="31853"/>
                  <a:pt x="3734967" y="71146"/>
                </a:cubicBezTo>
                <a:lnTo>
                  <a:pt x="3734967" y="995988"/>
                </a:lnTo>
                <a:cubicBezTo>
                  <a:pt x="3734967" y="1035280"/>
                  <a:pt x="3703114" y="1067133"/>
                  <a:pt x="3663821" y="1067133"/>
                </a:cubicBez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C5A575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096431" y="1458416"/>
            <a:ext cx="35571" cy="1067133"/>
          </a:xfrm>
          <a:custGeom>
            <a:avLst/>
            <a:gdLst/>
            <a:ahLst/>
            <a:cxnLst/>
            <a:rect l="l" t="t" r="r" b="b"/>
            <a:pathLst>
              <a:path w="35571" h="1067133">
                <a:moveTo>
                  <a:pt x="35571" y="0"/>
                </a:moveTo>
                <a:lnTo>
                  <a:pt x="35571" y="0"/>
                </a:lnTo>
                <a:lnTo>
                  <a:pt x="35571" y="1067133"/>
                </a:lnTo>
                <a:lnTo>
                  <a:pt x="35571" y="1067133"/>
                </a:lnTo>
                <a:cubicBezTo>
                  <a:pt x="15926" y="1067133"/>
                  <a:pt x="0" y="1051208"/>
                  <a:pt x="0" y="1031562"/>
                </a:cubicBezTo>
                <a:lnTo>
                  <a:pt x="0" y="35571"/>
                </a:lnTo>
                <a:cubicBezTo>
                  <a:pt x="0" y="15926"/>
                  <a:pt x="15926" y="0"/>
                  <a:pt x="35571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1" name="Shape 8"/>
          <p:cNvSpPr/>
          <p:nvPr/>
        </p:nvSpPr>
        <p:spPr>
          <a:xfrm>
            <a:off x="8278733" y="1636271"/>
            <a:ext cx="177856" cy="177856"/>
          </a:xfrm>
          <a:custGeom>
            <a:avLst/>
            <a:gdLst/>
            <a:ahLst/>
            <a:cxnLst/>
            <a:rect l="l" t="t" r="r" b="b"/>
            <a:pathLst>
              <a:path w="177856" h="177856">
                <a:moveTo>
                  <a:pt x="11116" y="11116"/>
                </a:moveTo>
                <a:cubicBezTo>
                  <a:pt x="17264" y="11116"/>
                  <a:pt x="22232" y="16083"/>
                  <a:pt x="22232" y="22232"/>
                </a:cubicBezTo>
                <a:lnTo>
                  <a:pt x="22232" y="138950"/>
                </a:lnTo>
                <a:cubicBezTo>
                  <a:pt x="22232" y="142007"/>
                  <a:pt x="24733" y="144508"/>
                  <a:pt x="27790" y="144508"/>
                </a:cubicBezTo>
                <a:lnTo>
                  <a:pt x="166740" y="144508"/>
                </a:lnTo>
                <a:cubicBezTo>
                  <a:pt x="172888" y="144508"/>
                  <a:pt x="177856" y="149475"/>
                  <a:pt x="177856" y="155624"/>
                </a:cubicBezTo>
                <a:cubicBezTo>
                  <a:pt x="177856" y="161772"/>
                  <a:pt x="172888" y="166740"/>
                  <a:pt x="166740" y="166740"/>
                </a:cubicBezTo>
                <a:lnTo>
                  <a:pt x="27790" y="166740"/>
                </a:lnTo>
                <a:cubicBezTo>
                  <a:pt x="12436" y="166740"/>
                  <a:pt x="0" y="154304"/>
                  <a:pt x="0" y="138950"/>
                </a:cubicBezTo>
                <a:lnTo>
                  <a:pt x="0" y="22232"/>
                </a:lnTo>
                <a:cubicBezTo>
                  <a:pt x="0" y="16083"/>
                  <a:pt x="4967" y="11116"/>
                  <a:pt x="11116" y="11116"/>
                </a:cubicBezTo>
                <a:close/>
                <a:moveTo>
                  <a:pt x="83370" y="33348"/>
                </a:moveTo>
                <a:cubicBezTo>
                  <a:pt x="85697" y="33348"/>
                  <a:pt x="87920" y="34321"/>
                  <a:pt x="89518" y="36057"/>
                </a:cubicBezTo>
                <a:lnTo>
                  <a:pt x="114217" y="62979"/>
                </a:lnTo>
                <a:lnTo>
                  <a:pt x="130265" y="46896"/>
                </a:lnTo>
                <a:cubicBezTo>
                  <a:pt x="133531" y="43630"/>
                  <a:pt x="138811" y="43630"/>
                  <a:pt x="142041" y="46896"/>
                </a:cubicBezTo>
                <a:lnTo>
                  <a:pt x="164273" y="69127"/>
                </a:lnTo>
                <a:cubicBezTo>
                  <a:pt x="165836" y="70691"/>
                  <a:pt x="166705" y="72810"/>
                  <a:pt x="166705" y="75033"/>
                </a:cubicBezTo>
                <a:lnTo>
                  <a:pt x="166705" y="113939"/>
                </a:lnTo>
                <a:cubicBezTo>
                  <a:pt x="166705" y="118559"/>
                  <a:pt x="162988" y="122276"/>
                  <a:pt x="158368" y="122276"/>
                </a:cubicBezTo>
                <a:lnTo>
                  <a:pt x="52766" y="122276"/>
                </a:lnTo>
                <a:cubicBezTo>
                  <a:pt x="48146" y="122276"/>
                  <a:pt x="44429" y="118559"/>
                  <a:pt x="44429" y="113939"/>
                </a:cubicBezTo>
                <a:lnTo>
                  <a:pt x="44429" y="75033"/>
                </a:lnTo>
                <a:cubicBezTo>
                  <a:pt x="44429" y="72949"/>
                  <a:pt x="45228" y="70934"/>
                  <a:pt x="46618" y="69405"/>
                </a:cubicBezTo>
                <a:lnTo>
                  <a:pt x="77187" y="36057"/>
                </a:lnTo>
                <a:cubicBezTo>
                  <a:pt x="78750" y="34321"/>
                  <a:pt x="81008" y="33348"/>
                  <a:pt x="83335" y="33348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2" name="Text 9"/>
          <p:cNvSpPr/>
          <p:nvPr/>
        </p:nvSpPr>
        <p:spPr>
          <a:xfrm>
            <a:off x="8549962" y="1600700"/>
            <a:ext cx="862600" cy="248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56501" y="1920840"/>
            <a:ext cx="3503755" cy="46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PnL is 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skewed with heavy tails </a:t>
            </a:r>
            <a:pPr>
              <a:lnSpc>
                <a:spcPct val="140000"/>
              </a:lnSpc>
            </a:pPr>
            <a:r>
              <a:rPr lang="en-US" sz="112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Median ≈ 0, mean is driven by outliers.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82202" y="2671391"/>
            <a:ext cx="3750974" cy="2692733"/>
          </a:xfrm>
          <a:custGeom>
            <a:avLst/>
            <a:gdLst/>
            <a:ahLst/>
            <a:cxnLst/>
            <a:rect l="l" t="t" r="r" b="b"/>
            <a:pathLst>
              <a:path w="3750974" h="2692733">
                <a:moveTo>
                  <a:pt x="71142" y="0"/>
                </a:moveTo>
                <a:lnTo>
                  <a:pt x="3679832" y="0"/>
                </a:lnTo>
                <a:cubicBezTo>
                  <a:pt x="3719123" y="0"/>
                  <a:pt x="3750974" y="31851"/>
                  <a:pt x="3750974" y="71142"/>
                </a:cubicBezTo>
                <a:lnTo>
                  <a:pt x="3750974" y="2621591"/>
                </a:lnTo>
                <a:cubicBezTo>
                  <a:pt x="3750974" y="2660882"/>
                  <a:pt x="3719123" y="2692733"/>
                  <a:pt x="3679832" y="2692733"/>
                </a:cubicBezTo>
                <a:lnTo>
                  <a:pt x="71142" y="2692733"/>
                </a:lnTo>
                <a:cubicBezTo>
                  <a:pt x="31851" y="2692733"/>
                  <a:pt x="0" y="2660882"/>
                  <a:pt x="0" y="2621591"/>
                </a:cubicBezTo>
                <a:lnTo>
                  <a:pt x="0" y="71142"/>
                </a:lnTo>
                <a:cubicBezTo>
                  <a:pt x="0" y="31878"/>
                  <a:pt x="31878" y="0"/>
                  <a:pt x="71142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8044" y="2817231"/>
            <a:ext cx="3530433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Distribution Stats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8044" y="3137371"/>
            <a:ext cx="586923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PnL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375198" y="3137371"/>
            <a:ext cx="373497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$4.80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8044" y="3350797"/>
            <a:ext cx="3512648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Outliers pull mean up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228044" y="3603244"/>
            <a:ext cx="3459291" cy="7114"/>
          </a:xfrm>
          <a:custGeom>
            <a:avLst/>
            <a:gdLst/>
            <a:ahLst/>
            <a:cxnLst/>
            <a:rect l="l" t="t" r="r" b="b"/>
            <a:pathLst>
              <a:path w="3459291" h="7114">
                <a:moveTo>
                  <a:pt x="0" y="0"/>
                </a:moveTo>
                <a:lnTo>
                  <a:pt x="3459291" y="0"/>
                </a:lnTo>
                <a:lnTo>
                  <a:pt x="3459291" y="7114"/>
                </a:lnTo>
                <a:lnTo>
                  <a:pt x="0" y="7114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228044" y="3713512"/>
            <a:ext cx="684744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PnL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297164" y="3713512"/>
            <a:ext cx="444639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4A6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-$0.80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28044" y="3926939"/>
            <a:ext cx="3512648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Typical trader loses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228044" y="4179381"/>
            <a:ext cx="3459291" cy="7114"/>
          </a:xfrm>
          <a:custGeom>
            <a:avLst/>
            <a:gdLst/>
            <a:ahLst/>
            <a:cxnLst/>
            <a:rect l="l" t="t" r="r" b="b"/>
            <a:pathLst>
              <a:path w="3459291" h="7114">
                <a:moveTo>
                  <a:pt x="0" y="0"/>
                </a:moveTo>
                <a:lnTo>
                  <a:pt x="3459291" y="0"/>
                </a:lnTo>
                <a:lnTo>
                  <a:pt x="3459291" y="7114"/>
                </a:lnTo>
                <a:lnTo>
                  <a:pt x="0" y="7114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228044" y="4289654"/>
            <a:ext cx="59581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Skewness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461347" y="4289654"/>
            <a:ext cx="284569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4.23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28044" y="4503081"/>
            <a:ext cx="3512648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skew: fat right tail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28044" y="4755523"/>
            <a:ext cx="3459291" cy="7114"/>
          </a:xfrm>
          <a:custGeom>
            <a:avLst/>
            <a:gdLst/>
            <a:ahLst/>
            <a:cxnLst/>
            <a:rect l="l" t="t" r="r" b="b"/>
            <a:pathLst>
              <a:path w="3459291" h="7114">
                <a:moveTo>
                  <a:pt x="0" y="0"/>
                </a:moveTo>
                <a:lnTo>
                  <a:pt x="3459291" y="0"/>
                </a:lnTo>
                <a:lnTo>
                  <a:pt x="3459291" y="7114"/>
                </a:lnTo>
                <a:lnTo>
                  <a:pt x="0" y="7114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228044" y="4865796"/>
            <a:ext cx="497996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Kurtosis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488692" y="4865796"/>
            <a:ext cx="257891" cy="17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18.7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228044" y="5079223"/>
            <a:ext cx="3512648" cy="142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Heavy tails, extreme outcomes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082202" y="5516633"/>
            <a:ext cx="3750974" cy="985320"/>
          </a:xfrm>
          <a:custGeom>
            <a:avLst/>
            <a:gdLst/>
            <a:ahLst/>
            <a:cxnLst/>
            <a:rect l="l" t="t" r="r" b="b"/>
            <a:pathLst>
              <a:path w="3750974" h="985320">
                <a:moveTo>
                  <a:pt x="71140" y="0"/>
                </a:moveTo>
                <a:lnTo>
                  <a:pt x="3679834" y="0"/>
                </a:lnTo>
                <a:cubicBezTo>
                  <a:pt x="3719124" y="0"/>
                  <a:pt x="3750974" y="31851"/>
                  <a:pt x="3750974" y="71140"/>
                </a:cubicBezTo>
                <a:lnTo>
                  <a:pt x="3750974" y="914180"/>
                </a:lnTo>
                <a:cubicBezTo>
                  <a:pt x="3750974" y="953469"/>
                  <a:pt x="3719124" y="985320"/>
                  <a:pt x="3679834" y="985320"/>
                </a:cubicBezTo>
                <a:lnTo>
                  <a:pt x="71140" y="985320"/>
                </a:lnTo>
                <a:cubicBezTo>
                  <a:pt x="31851" y="985320"/>
                  <a:pt x="0" y="953469"/>
                  <a:pt x="0" y="914180"/>
                </a:cubicBezTo>
                <a:lnTo>
                  <a:pt x="0" y="71140"/>
                </a:lnTo>
                <a:cubicBezTo>
                  <a:pt x="0" y="31877"/>
                  <a:pt x="31877" y="0"/>
                  <a:pt x="71140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8044" y="5662477"/>
            <a:ext cx="3530433" cy="21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Averages Differ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228044" y="5947046"/>
            <a:ext cx="3521540" cy="409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≠ Median due to outliers. Most traders lose small, few win big.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866900" cy="266700"/>
          </a:xfrm>
          <a:custGeom>
            <a:avLst/>
            <a:gdLst/>
            <a:ahLst/>
            <a:cxnLst/>
            <a:rect l="l" t="t" r="r" b="b"/>
            <a:pathLst>
              <a:path w="1866900" h="266700">
                <a:moveTo>
                  <a:pt x="38101" y="0"/>
                </a:moveTo>
                <a:lnTo>
                  <a:pt x="1828799" y="0"/>
                </a:lnTo>
                <a:cubicBezTo>
                  <a:pt x="1849842" y="0"/>
                  <a:pt x="1866900" y="17058"/>
                  <a:pt x="1866900" y="38101"/>
                </a:cubicBezTo>
                <a:lnTo>
                  <a:pt x="1866900" y="228599"/>
                </a:lnTo>
                <a:cubicBezTo>
                  <a:pt x="1866900" y="249642"/>
                  <a:pt x="1849842" y="266700"/>
                  <a:pt x="18287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57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9335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 SIZING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vs Reward Relationship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565910"/>
            <a:ext cx="7532370" cy="4779645"/>
          </a:xfrm>
          <a:custGeom>
            <a:avLst/>
            <a:gdLst/>
            <a:ahLst/>
            <a:cxnLst/>
            <a:rect l="l" t="t" r="r" b="b"/>
            <a:pathLst>
              <a:path w="7532370" h="4779645">
                <a:moveTo>
                  <a:pt x="76188" y="0"/>
                </a:moveTo>
                <a:lnTo>
                  <a:pt x="7456182" y="0"/>
                </a:lnTo>
                <a:cubicBezTo>
                  <a:pt x="7498260" y="0"/>
                  <a:pt x="7532370" y="34110"/>
                  <a:pt x="7532370" y="76188"/>
                </a:cubicBezTo>
                <a:lnTo>
                  <a:pt x="7532370" y="4703457"/>
                </a:lnTo>
                <a:cubicBezTo>
                  <a:pt x="7532370" y="4745535"/>
                  <a:pt x="7498260" y="4779645"/>
                  <a:pt x="7456182" y="4779645"/>
                </a:cubicBezTo>
                <a:lnTo>
                  <a:pt x="76188" y="4779645"/>
                </a:lnTo>
                <a:cubicBezTo>
                  <a:pt x="34110" y="4779645"/>
                  <a:pt x="0" y="4745535"/>
                  <a:pt x="0" y="4703457"/>
                </a:cubicBezTo>
                <a:lnTo>
                  <a:pt x="0" y="76188"/>
                </a:lnTo>
                <a:cubicBezTo>
                  <a:pt x="0" y="34138"/>
                  <a:pt x="34138" y="0"/>
                  <a:pt x="7618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9120" y="1760223"/>
            <a:ext cx="723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 Size vs Closed PnL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9120" y="2026923"/>
            <a:ext cx="721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Scatter plot revealing regime-dependent risk-reward patterns</a:t>
            </a:r>
            <a:endParaRPr lang="en-US" sz="1600" dirty="0"/>
          </a:p>
        </p:txBody>
      </p:sp>
      <p:pic>
        <p:nvPicPr>
          <p:cNvPr id="8" name="Image 0" descr="https://kimi-img.moonshot.cn/pub/slides/26-01-15-21:32:58-d5kep2i23rd86k4tqbj0.png">    </p:cNvPr>
          <p:cNvPicPr>
            <a:picLocks noChangeAspect="1"/>
          </p:cNvPicPr>
          <p:nvPr/>
        </p:nvPicPr>
        <p:blipFill>
          <a:blip r:embed="rId1"/>
          <a:srcRect l="0" r="0" t="2" b="2"/>
          <a:stretch/>
        </p:blipFill>
        <p:spPr>
          <a:xfrm>
            <a:off x="579120" y="2331723"/>
            <a:ext cx="7143750" cy="3819525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8172450" y="1562100"/>
            <a:ext cx="3638550" cy="1143000"/>
          </a:xfrm>
          <a:custGeom>
            <a:avLst/>
            <a:gdLst/>
            <a:ahLst/>
            <a:cxnLst/>
            <a:rect l="l" t="t" r="r" b="b"/>
            <a:pathLst>
              <a:path w="3638550" h="1143000">
                <a:moveTo>
                  <a:pt x="38100" y="0"/>
                </a:moveTo>
                <a:lnTo>
                  <a:pt x="3562346" y="0"/>
                </a:lnTo>
                <a:cubicBezTo>
                  <a:pt x="3604432" y="0"/>
                  <a:pt x="3638550" y="34118"/>
                  <a:pt x="3638550" y="76204"/>
                </a:cubicBezTo>
                <a:lnTo>
                  <a:pt x="3638550" y="1066796"/>
                </a:lnTo>
                <a:cubicBezTo>
                  <a:pt x="3638550" y="1108882"/>
                  <a:pt x="3604432" y="1143000"/>
                  <a:pt x="35623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172450" y="156210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1" name="Shape 8"/>
          <p:cNvSpPr/>
          <p:nvPr/>
        </p:nvSpPr>
        <p:spPr>
          <a:xfrm>
            <a:off x="8367712" y="175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2" name="Text 9"/>
          <p:cNvSpPr/>
          <p:nvPr/>
        </p:nvSpPr>
        <p:spPr>
          <a:xfrm>
            <a:off x="8658225" y="1714500"/>
            <a:ext cx="92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43900" y="2057400"/>
            <a:ext cx="3390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positions increase upside in Greed but expose traders to higher downside in Fear.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57210" y="2861310"/>
            <a:ext cx="3646170" cy="2274570"/>
          </a:xfrm>
          <a:custGeom>
            <a:avLst/>
            <a:gdLst/>
            <a:ahLst/>
            <a:cxnLst/>
            <a:rect l="l" t="t" r="r" b="b"/>
            <a:pathLst>
              <a:path w="3646170" h="2274570">
                <a:moveTo>
                  <a:pt x="76198" y="0"/>
                </a:moveTo>
                <a:lnTo>
                  <a:pt x="3569972" y="0"/>
                </a:lnTo>
                <a:cubicBezTo>
                  <a:pt x="3612055" y="0"/>
                  <a:pt x="3646170" y="34115"/>
                  <a:pt x="3646170" y="76198"/>
                </a:cubicBezTo>
                <a:lnTo>
                  <a:pt x="3646170" y="2198372"/>
                </a:lnTo>
                <a:cubicBezTo>
                  <a:pt x="3646170" y="2240455"/>
                  <a:pt x="3612055" y="2274570"/>
                  <a:pt x="3569972" y="2274570"/>
                </a:cubicBezTo>
                <a:lnTo>
                  <a:pt x="76198" y="2274570"/>
                </a:lnTo>
                <a:cubicBezTo>
                  <a:pt x="34115" y="2274570"/>
                  <a:pt x="0" y="2240455"/>
                  <a:pt x="0" y="219837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13420" y="3017523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13420" y="3360423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Correlation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244619" y="3360423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= 0.12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13420" y="3589023"/>
            <a:ext cx="3390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positive correlation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313420" y="3859412"/>
            <a:ext cx="3333750" cy="7620"/>
          </a:xfrm>
          <a:custGeom>
            <a:avLst/>
            <a:gdLst/>
            <a:ahLst/>
            <a:cxnLst/>
            <a:rect l="l" t="t" r="r" b="b"/>
            <a:pathLst>
              <a:path w="3333750" h="7620">
                <a:moveTo>
                  <a:pt x="0" y="0"/>
                </a:moveTo>
                <a:lnTo>
                  <a:pt x="3333750" y="0"/>
                </a:lnTo>
                <a:lnTo>
                  <a:pt x="33337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313420" y="397752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Fear Regime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147703" y="397752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= -0.28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13420" y="4206120"/>
            <a:ext cx="3390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positions → bigger losses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313420" y="4476514"/>
            <a:ext cx="3333750" cy="7620"/>
          </a:xfrm>
          <a:custGeom>
            <a:avLst/>
            <a:gdLst/>
            <a:ahLst/>
            <a:cxnLst/>
            <a:rect l="l" t="t" r="r" b="b"/>
            <a:pathLst>
              <a:path w="3333750" h="7620">
                <a:moveTo>
                  <a:pt x="0" y="0"/>
                </a:moveTo>
                <a:lnTo>
                  <a:pt x="3333750" y="0"/>
                </a:lnTo>
                <a:lnTo>
                  <a:pt x="33337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313420" y="4594622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 Regime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215212" y="4594622"/>
            <a:ext cx="50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 = 0.45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13420" y="4823222"/>
            <a:ext cx="3390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positions → bigger gains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57210" y="5294947"/>
            <a:ext cx="3646170" cy="1055370"/>
          </a:xfrm>
          <a:custGeom>
            <a:avLst/>
            <a:gdLst/>
            <a:ahLst/>
            <a:cxnLst/>
            <a:rect l="l" t="t" r="r" b="b"/>
            <a:pathLst>
              <a:path w="3646170" h="1055370">
                <a:moveTo>
                  <a:pt x="76198" y="0"/>
                </a:moveTo>
                <a:lnTo>
                  <a:pt x="3569972" y="0"/>
                </a:lnTo>
                <a:cubicBezTo>
                  <a:pt x="3612055" y="0"/>
                  <a:pt x="3646170" y="34115"/>
                  <a:pt x="3646170" y="76198"/>
                </a:cubicBezTo>
                <a:lnTo>
                  <a:pt x="3646170" y="979172"/>
                </a:lnTo>
                <a:cubicBezTo>
                  <a:pt x="3646170" y="1021255"/>
                  <a:pt x="3612055" y="1055370"/>
                  <a:pt x="3569972" y="1055370"/>
                </a:cubicBezTo>
                <a:lnTo>
                  <a:pt x="76198" y="1055370"/>
                </a:lnTo>
                <a:cubicBezTo>
                  <a:pt x="34115" y="1055370"/>
                  <a:pt x="0" y="1021255"/>
                  <a:pt x="0" y="97917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13420" y="5451160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Regime-Dependent Behavior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13420" y="5755960"/>
            <a:ext cx="3400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position size yields different outcomes based on sentiment. Context matters more than size.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928" y="378928"/>
            <a:ext cx="1392559" cy="265249"/>
          </a:xfrm>
          <a:custGeom>
            <a:avLst/>
            <a:gdLst/>
            <a:ahLst/>
            <a:cxnLst/>
            <a:rect l="l" t="t" r="r" b="b"/>
            <a:pathLst>
              <a:path w="1392559" h="265249">
                <a:moveTo>
                  <a:pt x="37894" y="0"/>
                </a:moveTo>
                <a:lnTo>
                  <a:pt x="1354666" y="0"/>
                </a:lnTo>
                <a:cubicBezTo>
                  <a:pt x="1375594" y="0"/>
                  <a:pt x="1392559" y="16966"/>
                  <a:pt x="1392559" y="37894"/>
                </a:cubicBezTo>
                <a:lnTo>
                  <a:pt x="1392559" y="227356"/>
                </a:lnTo>
                <a:cubicBezTo>
                  <a:pt x="1392559" y="248284"/>
                  <a:pt x="1375594" y="265249"/>
                  <a:pt x="1354666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C5A57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78928" y="378928"/>
            <a:ext cx="1458872" cy="265249"/>
          </a:xfrm>
          <a:prstGeom prst="rect">
            <a:avLst/>
          </a:prstGeom>
          <a:noFill/>
          <a:ln/>
        </p:spPr>
        <p:txBody>
          <a:bodyPr wrap="square" lIns="113678" tIns="37893" rIns="113678" bIns="37893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 RIGOR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928" y="757855"/>
            <a:ext cx="11661501" cy="568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8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Validation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7874" y="1553604"/>
            <a:ext cx="3713492" cy="1136783"/>
          </a:xfrm>
          <a:custGeom>
            <a:avLst/>
            <a:gdLst/>
            <a:ahLst/>
            <a:cxnLst/>
            <a:rect l="l" t="t" r="r" b="b"/>
            <a:pathLst>
              <a:path w="3713492" h="1136783">
                <a:moveTo>
                  <a:pt x="37893" y="0"/>
                </a:moveTo>
                <a:lnTo>
                  <a:pt x="3637703" y="0"/>
                </a:lnTo>
                <a:cubicBezTo>
                  <a:pt x="3679560" y="0"/>
                  <a:pt x="3713492" y="33932"/>
                  <a:pt x="3713492" y="75789"/>
                </a:cubicBezTo>
                <a:lnTo>
                  <a:pt x="3713492" y="1060994"/>
                </a:lnTo>
                <a:cubicBezTo>
                  <a:pt x="3713492" y="1102851"/>
                  <a:pt x="3679560" y="1136783"/>
                  <a:pt x="3637703" y="1136783"/>
                </a:cubicBezTo>
                <a:lnTo>
                  <a:pt x="37893" y="1136783"/>
                </a:lnTo>
                <a:cubicBezTo>
                  <a:pt x="16965" y="1136783"/>
                  <a:pt x="0" y="1119818"/>
                  <a:pt x="0" y="1098890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C5A575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7874" y="1553604"/>
            <a:ext cx="37893" cy="1136783"/>
          </a:xfrm>
          <a:custGeom>
            <a:avLst/>
            <a:gdLst/>
            <a:ahLst/>
            <a:cxnLst/>
            <a:rect l="l" t="t" r="r" b="b"/>
            <a:pathLst>
              <a:path w="37893" h="1136783">
                <a:moveTo>
                  <a:pt x="37893" y="0"/>
                </a:moveTo>
                <a:lnTo>
                  <a:pt x="37893" y="0"/>
                </a:lnTo>
                <a:lnTo>
                  <a:pt x="37893" y="1136783"/>
                </a:lnTo>
                <a:lnTo>
                  <a:pt x="37893" y="1136783"/>
                </a:lnTo>
                <a:cubicBezTo>
                  <a:pt x="16965" y="1136783"/>
                  <a:pt x="0" y="1119818"/>
                  <a:pt x="0" y="1098890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7" name="Shape 5"/>
          <p:cNvSpPr/>
          <p:nvPr/>
        </p:nvSpPr>
        <p:spPr>
          <a:xfrm>
            <a:off x="592075" y="1743068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94732" y="189464"/>
                </a:moveTo>
                <a:cubicBezTo>
                  <a:pt x="147016" y="189464"/>
                  <a:pt x="189464" y="147016"/>
                  <a:pt x="189464" y="94732"/>
                </a:cubicBezTo>
                <a:cubicBezTo>
                  <a:pt x="189464" y="42448"/>
                  <a:pt x="147016" y="0"/>
                  <a:pt x="94732" y="0"/>
                </a:cubicBezTo>
                <a:cubicBezTo>
                  <a:pt x="42448" y="0"/>
                  <a:pt x="0" y="42448"/>
                  <a:pt x="0" y="94732"/>
                </a:cubicBezTo>
                <a:cubicBezTo>
                  <a:pt x="0" y="147016"/>
                  <a:pt x="42448" y="189464"/>
                  <a:pt x="94732" y="189464"/>
                </a:cubicBezTo>
                <a:close/>
                <a:moveTo>
                  <a:pt x="125964" y="78709"/>
                </a:moveTo>
                <a:lnTo>
                  <a:pt x="96360" y="126075"/>
                </a:lnTo>
                <a:cubicBezTo>
                  <a:pt x="94806" y="128554"/>
                  <a:pt x="92142" y="130108"/>
                  <a:pt x="89218" y="130256"/>
                </a:cubicBezTo>
                <a:cubicBezTo>
                  <a:pt x="86295" y="130404"/>
                  <a:pt x="83483" y="129072"/>
                  <a:pt x="81743" y="126704"/>
                </a:cubicBezTo>
                <a:lnTo>
                  <a:pt x="63981" y="103021"/>
                </a:lnTo>
                <a:cubicBezTo>
                  <a:pt x="61021" y="99098"/>
                  <a:pt x="61835" y="93548"/>
                  <a:pt x="65757" y="90587"/>
                </a:cubicBezTo>
                <a:cubicBezTo>
                  <a:pt x="69680" y="87627"/>
                  <a:pt x="75230" y="88441"/>
                  <a:pt x="78191" y="92364"/>
                </a:cubicBezTo>
                <a:lnTo>
                  <a:pt x="88182" y="105685"/>
                </a:lnTo>
                <a:lnTo>
                  <a:pt x="110903" y="69310"/>
                </a:lnTo>
                <a:cubicBezTo>
                  <a:pt x="113493" y="65165"/>
                  <a:pt x="118970" y="63870"/>
                  <a:pt x="123152" y="66497"/>
                </a:cubicBezTo>
                <a:cubicBezTo>
                  <a:pt x="127333" y="69125"/>
                  <a:pt x="128591" y="74564"/>
                  <a:pt x="125964" y="78746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8" name="Text 6"/>
          <p:cNvSpPr/>
          <p:nvPr/>
        </p:nvSpPr>
        <p:spPr>
          <a:xfrm>
            <a:off x="881007" y="1705175"/>
            <a:ext cx="87153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Result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8392" y="2046210"/>
            <a:ext cx="3467189" cy="492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difference is 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statistically significant 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 ≪ 0.05).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2717" y="2845747"/>
            <a:ext cx="3730544" cy="2499028"/>
          </a:xfrm>
          <a:custGeom>
            <a:avLst/>
            <a:gdLst/>
            <a:ahLst/>
            <a:cxnLst/>
            <a:rect l="l" t="t" r="r" b="b"/>
            <a:pathLst>
              <a:path w="3730544" h="2499028">
                <a:moveTo>
                  <a:pt x="75796" y="0"/>
                </a:moveTo>
                <a:lnTo>
                  <a:pt x="3654748" y="0"/>
                </a:lnTo>
                <a:cubicBezTo>
                  <a:pt x="3696609" y="0"/>
                  <a:pt x="3730544" y="33935"/>
                  <a:pt x="3730544" y="75796"/>
                </a:cubicBezTo>
                <a:lnTo>
                  <a:pt x="3730544" y="2423233"/>
                </a:lnTo>
                <a:cubicBezTo>
                  <a:pt x="3730544" y="2465094"/>
                  <a:pt x="3696609" y="2499028"/>
                  <a:pt x="3654748" y="2499028"/>
                </a:cubicBezTo>
                <a:lnTo>
                  <a:pt x="75796" y="2499028"/>
                </a:lnTo>
                <a:cubicBezTo>
                  <a:pt x="33935" y="2499028"/>
                  <a:pt x="0" y="2465094"/>
                  <a:pt x="0" y="2423233"/>
                </a:cubicBezTo>
                <a:lnTo>
                  <a:pt x="0" y="75796"/>
                </a:lnTo>
                <a:cubicBezTo>
                  <a:pt x="0" y="33935"/>
                  <a:pt x="33935" y="0"/>
                  <a:pt x="75796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077" y="3001110"/>
            <a:ext cx="349560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Parameters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8077" y="3432377"/>
            <a:ext cx="62523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Type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48176" y="3432377"/>
            <a:ext cx="107047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Mann-Whitney 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8077" y="3802423"/>
            <a:ext cx="75785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 Size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4654" y="3802423"/>
            <a:ext cx="634704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 = 15,847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8077" y="4172470"/>
            <a:ext cx="634704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 Statistic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07805" y="4172470"/>
            <a:ext cx="51155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2.18×10⁵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8077" y="4542517"/>
            <a:ext cx="51155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p-value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68" y="4542517"/>
            <a:ext cx="54944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2.3×10⁻¹²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8077" y="4912563"/>
            <a:ext cx="74838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28822" y="4912563"/>
            <a:ext cx="59681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&lt; 0.001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2717" y="5506887"/>
            <a:ext cx="3730544" cy="1049630"/>
          </a:xfrm>
          <a:custGeom>
            <a:avLst/>
            <a:gdLst/>
            <a:ahLst/>
            <a:cxnLst/>
            <a:rect l="l" t="t" r="r" b="b"/>
            <a:pathLst>
              <a:path w="3730544" h="1049630">
                <a:moveTo>
                  <a:pt x="75783" y="0"/>
                </a:moveTo>
                <a:lnTo>
                  <a:pt x="3654760" y="0"/>
                </a:lnTo>
                <a:cubicBezTo>
                  <a:pt x="3696614" y="0"/>
                  <a:pt x="3730544" y="33929"/>
                  <a:pt x="3730544" y="75783"/>
                </a:cubicBezTo>
                <a:lnTo>
                  <a:pt x="3730544" y="973847"/>
                </a:lnTo>
                <a:cubicBezTo>
                  <a:pt x="3730544" y="1015701"/>
                  <a:pt x="3696614" y="1049630"/>
                  <a:pt x="3654760" y="1049630"/>
                </a:cubicBezTo>
                <a:lnTo>
                  <a:pt x="75783" y="1049630"/>
                </a:lnTo>
                <a:cubicBezTo>
                  <a:pt x="33957" y="1049630"/>
                  <a:pt x="0" y="1015672"/>
                  <a:pt x="0" y="973847"/>
                </a:cubicBezTo>
                <a:lnTo>
                  <a:pt x="0" y="75783"/>
                </a:lnTo>
                <a:cubicBezTo>
                  <a:pt x="0" y="33929"/>
                  <a:pt x="33929" y="0"/>
                  <a:pt x="75783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8077" y="5662245"/>
            <a:ext cx="349560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 Size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8077" y="5965387"/>
            <a:ext cx="3486135" cy="43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effect size (Cohen's d = 0.72) indicates practical significance.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45946" y="1557393"/>
            <a:ext cx="7462982" cy="3702124"/>
          </a:xfrm>
          <a:custGeom>
            <a:avLst/>
            <a:gdLst/>
            <a:ahLst/>
            <a:cxnLst/>
            <a:rect l="l" t="t" r="r" b="b"/>
            <a:pathLst>
              <a:path w="7462982" h="3702124">
                <a:moveTo>
                  <a:pt x="75782" y="0"/>
                </a:moveTo>
                <a:lnTo>
                  <a:pt x="7387199" y="0"/>
                </a:lnTo>
                <a:cubicBezTo>
                  <a:pt x="7429053" y="0"/>
                  <a:pt x="7462982" y="33929"/>
                  <a:pt x="7462982" y="75782"/>
                </a:cubicBezTo>
                <a:lnTo>
                  <a:pt x="7462982" y="3626342"/>
                </a:lnTo>
                <a:cubicBezTo>
                  <a:pt x="7462982" y="3668195"/>
                  <a:pt x="7429053" y="3702124"/>
                  <a:pt x="7387199" y="3702124"/>
                </a:cubicBezTo>
                <a:lnTo>
                  <a:pt x="75782" y="3702124"/>
                </a:lnTo>
                <a:cubicBezTo>
                  <a:pt x="33929" y="3702124"/>
                  <a:pt x="0" y="3668195"/>
                  <a:pt x="0" y="3626342"/>
                </a:cubicBezTo>
                <a:lnTo>
                  <a:pt x="0" y="75782"/>
                </a:lnTo>
                <a:cubicBezTo>
                  <a:pt x="0" y="33957"/>
                  <a:pt x="33957" y="0"/>
                  <a:pt x="75782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9199" y="1750649"/>
            <a:ext cx="7171207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Mann–Whitney U Test Overview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39199" y="2015898"/>
            <a:ext cx="714278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this test is appropriate for our analysis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58146" y="2519869"/>
            <a:ext cx="7057529" cy="682070"/>
          </a:xfrm>
          <a:custGeom>
            <a:avLst/>
            <a:gdLst/>
            <a:ahLst/>
            <a:cxnLst/>
            <a:rect l="l" t="t" r="r" b="b"/>
            <a:pathLst>
              <a:path w="7057529" h="682070">
                <a:moveTo>
                  <a:pt x="37893" y="0"/>
                </a:moveTo>
                <a:lnTo>
                  <a:pt x="6981744" y="0"/>
                </a:lnTo>
                <a:cubicBezTo>
                  <a:pt x="7023599" y="0"/>
                  <a:pt x="7057529" y="33930"/>
                  <a:pt x="7057529" y="75785"/>
                </a:cubicBezTo>
                <a:lnTo>
                  <a:pt x="7057529" y="606285"/>
                </a:lnTo>
                <a:cubicBezTo>
                  <a:pt x="7057529" y="648140"/>
                  <a:pt x="7023599" y="682070"/>
                  <a:pt x="6981744" y="682070"/>
                </a:cubicBezTo>
                <a:lnTo>
                  <a:pt x="37893" y="682070"/>
                </a:lnTo>
                <a:cubicBezTo>
                  <a:pt x="16965" y="682070"/>
                  <a:pt x="0" y="665105"/>
                  <a:pt x="0" y="644177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58146" y="2519869"/>
            <a:ext cx="37893" cy="682070"/>
          </a:xfrm>
          <a:custGeom>
            <a:avLst/>
            <a:gdLst/>
            <a:ahLst/>
            <a:cxnLst/>
            <a:rect l="l" t="t" r="r" b="b"/>
            <a:pathLst>
              <a:path w="37893" h="682070">
                <a:moveTo>
                  <a:pt x="37893" y="0"/>
                </a:moveTo>
                <a:lnTo>
                  <a:pt x="37893" y="0"/>
                </a:lnTo>
                <a:lnTo>
                  <a:pt x="37893" y="682070"/>
                </a:lnTo>
                <a:lnTo>
                  <a:pt x="37893" y="682070"/>
                </a:lnTo>
                <a:cubicBezTo>
                  <a:pt x="16965" y="682070"/>
                  <a:pt x="0" y="665105"/>
                  <a:pt x="0" y="644177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30" name="Text 28"/>
          <p:cNvSpPr/>
          <p:nvPr/>
        </p:nvSpPr>
        <p:spPr>
          <a:xfrm>
            <a:off x="4690770" y="2633548"/>
            <a:ext cx="688701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Non-Parametric Test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90770" y="2898797"/>
            <a:ext cx="687753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Doesn't assume normal distribution, ideal for PnL data with heavy tails.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58146" y="3353510"/>
            <a:ext cx="7057529" cy="682070"/>
          </a:xfrm>
          <a:custGeom>
            <a:avLst/>
            <a:gdLst/>
            <a:ahLst/>
            <a:cxnLst/>
            <a:rect l="l" t="t" r="r" b="b"/>
            <a:pathLst>
              <a:path w="7057529" h="682070">
                <a:moveTo>
                  <a:pt x="37893" y="0"/>
                </a:moveTo>
                <a:lnTo>
                  <a:pt x="6981744" y="0"/>
                </a:lnTo>
                <a:cubicBezTo>
                  <a:pt x="7023599" y="0"/>
                  <a:pt x="7057529" y="33930"/>
                  <a:pt x="7057529" y="75785"/>
                </a:cubicBezTo>
                <a:lnTo>
                  <a:pt x="7057529" y="606285"/>
                </a:lnTo>
                <a:cubicBezTo>
                  <a:pt x="7057529" y="648140"/>
                  <a:pt x="7023599" y="682070"/>
                  <a:pt x="6981744" y="682070"/>
                </a:cubicBezTo>
                <a:lnTo>
                  <a:pt x="37893" y="682070"/>
                </a:lnTo>
                <a:cubicBezTo>
                  <a:pt x="16965" y="682070"/>
                  <a:pt x="0" y="665105"/>
                  <a:pt x="0" y="644177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58146" y="3353510"/>
            <a:ext cx="37893" cy="682070"/>
          </a:xfrm>
          <a:custGeom>
            <a:avLst/>
            <a:gdLst/>
            <a:ahLst/>
            <a:cxnLst/>
            <a:rect l="l" t="t" r="r" b="b"/>
            <a:pathLst>
              <a:path w="37893" h="682070">
                <a:moveTo>
                  <a:pt x="37893" y="0"/>
                </a:moveTo>
                <a:lnTo>
                  <a:pt x="37893" y="0"/>
                </a:lnTo>
                <a:lnTo>
                  <a:pt x="37893" y="682070"/>
                </a:lnTo>
                <a:lnTo>
                  <a:pt x="37893" y="682070"/>
                </a:lnTo>
                <a:cubicBezTo>
                  <a:pt x="16965" y="682070"/>
                  <a:pt x="0" y="665105"/>
                  <a:pt x="0" y="644177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34" name="Text 32"/>
          <p:cNvSpPr/>
          <p:nvPr/>
        </p:nvSpPr>
        <p:spPr>
          <a:xfrm>
            <a:off x="4690770" y="3467189"/>
            <a:ext cx="688701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Two-Sample Comparison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90770" y="3732438"/>
            <a:ext cx="687753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Compares Fear vs Greed performance distributions.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58146" y="4187152"/>
            <a:ext cx="7057529" cy="682070"/>
          </a:xfrm>
          <a:custGeom>
            <a:avLst/>
            <a:gdLst/>
            <a:ahLst/>
            <a:cxnLst/>
            <a:rect l="l" t="t" r="r" b="b"/>
            <a:pathLst>
              <a:path w="7057529" h="682070">
                <a:moveTo>
                  <a:pt x="37893" y="0"/>
                </a:moveTo>
                <a:lnTo>
                  <a:pt x="6981744" y="0"/>
                </a:lnTo>
                <a:cubicBezTo>
                  <a:pt x="7023599" y="0"/>
                  <a:pt x="7057529" y="33930"/>
                  <a:pt x="7057529" y="75785"/>
                </a:cubicBezTo>
                <a:lnTo>
                  <a:pt x="7057529" y="606285"/>
                </a:lnTo>
                <a:cubicBezTo>
                  <a:pt x="7057529" y="648140"/>
                  <a:pt x="7023599" y="682070"/>
                  <a:pt x="6981744" y="682070"/>
                </a:cubicBezTo>
                <a:lnTo>
                  <a:pt x="37893" y="682070"/>
                </a:lnTo>
                <a:cubicBezTo>
                  <a:pt x="16965" y="682070"/>
                  <a:pt x="0" y="665105"/>
                  <a:pt x="0" y="644177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58146" y="4187152"/>
            <a:ext cx="37893" cy="682070"/>
          </a:xfrm>
          <a:custGeom>
            <a:avLst/>
            <a:gdLst/>
            <a:ahLst/>
            <a:cxnLst/>
            <a:rect l="l" t="t" r="r" b="b"/>
            <a:pathLst>
              <a:path w="37893" h="682070">
                <a:moveTo>
                  <a:pt x="37893" y="0"/>
                </a:moveTo>
                <a:lnTo>
                  <a:pt x="37893" y="0"/>
                </a:lnTo>
                <a:lnTo>
                  <a:pt x="37893" y="682070"/>
                </a:lnTo>
                <a:lnTo>
                  <a:pt x="37893" y="682070"/>
                </a:lnTo>
                <a:cubicBezTo>
                  <a:pt x="16965" y="682070"/>
                  <a:pt x="0" y="665105"/>
                  <a:pt x="0" y="644177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38" name="Text 36"/>
          <p:cNvSpPr/>
          <p:nvPr/>
        </p:nvSpPr>
        <p:spPr>
          <a:xfrm>
            <a:off x="4690770" y="4300830"/>
            <a:ext cx="688701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to Outliers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90770" y="4566079"/>
            <a:ext cx="687753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rank ordering, making it robust to extreme values.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61103" y="5418787"/>
            <a:ext cx="7455403" cy="1136783"/>
          </a:xfrm>
          <a:custGeom>
            <a:avLst/>
            <a:gdLst/>
            <a:ahLst/>
            <a:cxnLst/>
            <a:rect l="l" t="t" r="r" b="b"/>
            <a:pathLst>
              <a:path w="7455403" h="1136783">
                <a:moveTo>
                  <a:pt x="37893" y="0"/>
                </a:moveTo>
                <a:lnTo>
                  <a:pt x="7379614" y="0"/>
                </a:lnTo>
                <a:cubicBezTo>
                  <a:pt x="7421471" y="0"/>
                  <a:pt x="7455403" y="33932"/>
                  <a:pt x="7455403" y="75789"/>
                </a:cubicBezTo>
                <a:lnTo>
                  <a:pt x="7455403" y="1060994"/>
                </a:lnTo>
                <a:cubicBezTo>
                  <a:pt x="7455403" y="1102851"/>
                  <a:pt x="7421471" y="1136783"/>
                  <a:pt x="7379614" y="1136783"/>
                </a:cubicBezTo>
                <a:lnTo>
                  <a:pt x="37893" y="1136783"/>
                </a:lnTo>
                <a:cubicBezTo>
                  <a:pt x="16965" y="1136783"/>
                  <a:pt x="0" y="1119818"/>
                  <a:pt x="0" y="1098890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C5A575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361103" y="5418787"/>
            <a:ext cx="37893" cy="1136783"/>
          </a:xfrm>
          <a:custGeom>
            <a:avLst/>
            <a:gdLst/>
            <a:ahLst/>
            <a:cxnLst/>
            <a:rect l="l" t="t" r="r" b="b"/>
            <a:pathLst>
              <a:path w="37893" h="1136783">
                <a:moveTo>
                  <a:pt x="37893" y="0"/>
                </a:moveTo>
                <a:lnTo>
                  <a:pt x="37893" y="0"/>
                </a:lnTo>
                <a:lnTo>
                  <a:pt x="37893" y="1136783"/>
                </a:lnTo>
                <a:lnTo>
                  <a:pt x="37893" y="1136783"/>
                </a:lnTo>
                <a:cubicBezTo>
                  <a:pt x="16965" y="1136783"/>
                  <a:pt x="0" y="1119818"/>
                  <a:pt x="0" y="1098890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42" name="Text 40"/>
          <p:cNvSpPr/>
          <p:nvPr/>
        </p:nvSpPr>
        <p:spPr>
          <a:xfrm>
            <a:off x="4531621" y="5570358"/>
            <a:ext cx="721857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31621" y="5911393"/>
            <a:ext cx="7209100" cy="492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p &lt; 0.001, we reject the null hypothesis. The observed performance differences are not due to random chance but reflect genuine behavioral patterns.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1562100" cy="266700"/>
          </a:xfrm>
          <a:custGeom>
            <a:avLst/>
            <a:gdLst/>
            <a:ahLst/>
            <a:cxnLst/>
            <a:rect l="l" t="t" r="r" b="b"/>
            <a:pathLst>
              <a:path w="1562100" h="266700">
                <a:moveTo>
                  <a:pt x="38101" y="0"/>
                </a:moveTo>
                <a:lnTo>
                  <a:pt x="1523999" y="0"/>
                </a:lnTo>
                <a:cubicBezTo>
                  <a:pt x="1545042" y="0"/>
                  <a:pt x="1562100" y="17058"/>
                  <a:pt x="1562100" y="38101"/>
                </a:cubicBezTo>
                <a:lnTo>
                  <a:pt x="1562100" y="228599"/>
                </a:lnTo>
                <a:cubicBezTo>
                  <a:pt x="1562100" y="249642"/>
                  <a:pt x="1545042" y="266700"/>
                  <a:pt x="15239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575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000"/>
            <a:ext cx="16287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620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47800"/>
            <a:ext cx="5619750" cy="1409700"/>
          </a:xfrm>
          <a:custGeom>
            <a:avLst/>
            <a:gdLst/>
            <a:ahLst/>
            <a:cxnLst/>
            <a:rect l="l" t="t" r="r" b="b"/>
            <a:pathLst>
              <a:path w="5619750" h="1409700">
                <a:moveTo>
                  <a:pt x="38100" y="0"/>
                </a:moveTo>
                <a:lnTo>
                  <a:pt x="5543556" y="0"/>
                </a:lnTo>
                <a:cubicBezTo>
                  <a:pt x="5585608" y="0"/>
                  <a:pt x="5619750" y="34142"/>
                  <a:pt x="5619750" y="76194"/>
                </a:cubicBezTo>
                <a:lnTo>
                  <a:pt x="5619750" y="1333506"/>
                </a:lnTo>
                <a:cubicBezTo>
                  <a:pt x="5619750" y="1375587"/>
                  <a:pt x="5585637" y="1409700"/>
                  <a:pt x="55435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8" name="Text 6"/>
          <p:cNvSpPr/>
          <p:nvPr/>
        </p:nvSpPr>
        <p:spPr>
          <a:xfrm>
            <a:off x="523875" y="1600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695450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Greed Outperforms Fear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2098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Greed regimes show 2.4x higher PnL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a 19.9 percentage point better win rate than Fear regimes (62.1% vs 42.2%).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0" y="1447800"/>
            <a:ext cx="5619750" cy="1409700"/>
          </a:xfrm>
          <a:custGeom>
            <a:avLst/>
            <a:gdLst/>
            <a:ahLst/>
            <a:cxnLst/>
            <a:rect l="l" t="t" r="r" b="b"/>
            <a:pathLst>
              <a:path w="5619750" h="1409700">
                <a:moveTo>
                  <a:pt x="38100" y="0"/>
                </a:moveTo>
                <a:lnTo>
                  <a:pt x="5543556" y="0"/>
                </a:lnTo>
                <a:cubicBezTo>
                  <a:pt x="5585608" y="0"/>
                  <a:pt x="5619750" y="34142"/>
                  <a:pt x="5619750" y="76194"/>
                </a:cubicBezTo>
                <a:lnTo>
                  <a:pt x="5619750" y="1333506"/>
                </a:lnTo>
                <a:cubicBezTo>
                  <a:pt x="5619750" y="1375587"/>
                  <a:pt x="5585637" y="1409700"/>
                  <a:pt x="55435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91250" y="14478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27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14" name="Text 12"/>
          <p:cNvSpPr/>
          <p:nvPr/>
        </p:nvSpPr>
        <p:spPr>
          <a:xfrm>
            <a:off x="6315075" y="16002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34200" y="1695450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Rewarded Conditionally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2700" y="22098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risk-taking is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rewarded during Greed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penalized during Fear. Large positions show positive returns in Greed, negative in Fear.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009900"/>
            <a:ext cx="5619750" cy="1409700"/>
          </a:xfrm>
          <a:custGeom>
            <a:avLst/>
            <a:gdLst/>
            <a:ahLst/>
            <a:cxnLst/>
            <a:rect l="l" t="t" r="r" b="b"/>
            <a:pathLst>
              <a:path w="5619750" h="1409700">
                <a:moveTo>
                  <a:pt x="38100" y="0"/>
                </a:moveTo>
                <a:lnTo>
                  <a:pt x="5543556" y="0"/>
                </a:lnTo>
                <a:cubicBezTo>
                  <a:pt x="5585608" y="0"/>
                  <a:pt x="5619750" y="34142"/>
                  <a:pt x="5619750" y="76194"/>
                </a:cubicBezTo>
                <a:lnTo>
                  <a:pt x="5619750" y="1333506"/>
                </a:lnTo>
                <a:cubicBezTo>
                  <a:pt x="5619750" y="1375587"/>
                  <a:pt x="5585637" y="1409700"/>
                  <a:pt x="55435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C7A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0099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19" name="Shape 17"/>
          <p:cNvSpPr/>
          <p:nvPr/>
        </p:nvSpPr>
        <p:spPr>
          <a:xfrm>
            <a:off x="571500" y="3162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C7A"/>
          </a:solidFill>
          <a:ln/>
        </p:spPr>
      </p:sp>
      <p:sp>
        <p:nvSpPr>
          <p:cNvPr id="20" name="Text 18"/>
          <p:cNvSpPr/>
          <p:nvPr/>
        </p:nvSpPr>
        <p:spPr>
          <a:xfrm>
            <a:off x="523875" y="3162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257550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is Regime-Dependent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" y="37719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Trader performance is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uniform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Same strategies yield different outcomes based on sentiment, with statistical validation (p &lt; 0.001).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3009900"/>
            <a:ext cx="5619750" cy="1409700"/>
          </a:xfrm>
          <a:custGeom>
            <a:avLst/>
            <a:gdLst/>
            <a:ahLst/>
            <a:cxnLst/>
            <a:rect l="l" t="t" r="r" b="b"/>
            <a:pathLst>
              <a:path w="5619750" h="1409700">
                <a:moveTo>
                  <a:pt x="38100" y="0"/>
                </a:moveTo>
                <a:lnTo>
                  <a:pt x="5543556" y="0"/>
                </a:lnTo>
                <a:cubicBezTo>
                  <a:pt x="5585608" y="0"/>
                  <a:pt x="5619750" y="34142"/>
                  <a:pt x="5619750" y="76194"/>
                </a:cubicBezTo>
                <a:lnTo>
                  <a:pt x="5619750" y="1333506"/>
                </a:lnTo>
                <a:cubicBezTo>
                  <a:pt x="5619750" y="1375587"/>
                  <a:pt x="5585637" y="1409700"/>
                  <a:pt x="55435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191250" y="3009900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25" name="Shape 23"/>
          <p:cNvSpPr/>
          <p:nvPr/>
        </p:nvSpPr>
        <p:spPr>
          <a:xfrm>
            <a:off x="6362700" y="3162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26" name="Text 24"/>
          <p:cNvSpPr/>
          <p:nvPr/>
        </p:nvSpPr>
        <p:spPr>
          <a:xfrm>
            <a:off x="6315075" y="3162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4200" y="325755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as Context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2700" y="37719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sentiment is a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signal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trading. It should be used for dynamic position sizing and regime-aware strategies.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4537710"/>
            <a:ext cx="11418570" cy="902970"/>
          </a:xfrm>
          <a:custGeom>
            <a:avLst/>
            <a:gdLst/>
            <a:ahLst/>
            <a:cxnLst/>
            <a:rect l="l" t="t" r="r" b="b"/>
            <a:pathLst>
              <a:path w="11418570" h="902970">
                <a:moveTo>
                  <a:pt x="76202" y="0"/>
                </a:moveTo>
                <a:lnTo>
                  <a:pt x="11342368" y="0"/>
                </a:lnTo>
                <a:cubicBezTo>
                  <a:pt x="11384453" y="0"/>
                  <a:pt x="11418570" y="34117"/>
                  <a:pt x="11418570" y="76202"/>
                </a:cubicBezTo>
                <a:lnTo>
                  <a:pt x="11418570" y="826768"/>
                </a:lnTo>
                <a:cubicBezTo>
                  <a:pt x="11418570" y="868853"/>
                  <a:pt x="11384453" y="902970"/>
                  <a:pt x="11342368" y="902970"/>
                </a:cubicBezTo>
                <a:lnTo>
                  <a:pt x="76202" y="902970"/>
                </a:lnTo>
                <a:cubicBezTo>
                  <a:pt x="34117" y="902970"/>
                  <a:pt x="0" y="868853"/>
                  <a:pt x="0" y="82676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016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1020" y="469391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31" name="Shape 29"/>
          <p:cNvSpPr/>
          <p:nvPr/>
        </p:nvSpPr>
        <p:spPr>
          <a:xfrm>
            <a:off x="683895" y="480821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150620" y="4693918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Implications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50620" y="5036818"/>
            <a:ext cx="10572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analysis proves sentiment isn't noise—it's a measurable driver of returns. Traders and algorithms ignoring it are flying blind in a storm of behavioral bias.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f62db56c73c8822608aba5fe33362071ba72a295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4676" r="4676" t="0" b="0"/>
          <a:stretch/>
        </p:blipFill>
        <p:spPr>
          <a:xfrm>
            <a:off x="0" y="0"/>
            <a:ext cx="12192000" cy="754866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548664"/>
          </a:xfrm>
          <a:custGeom>
            <a:avLst/>
            <a:gdLst/>
            <a:ahLst/>
            <a:cxnLst/>
            <a:rect l="l" t="t" r="r" b="b"/>
            <a:pathLst>
              <a:path w="12192000" h="7548664">
                <a:moveTo>
                  <a:pt x="0" y="0"/>
                </a:moveTo>
                <a:lnTo>
                  <a:pt x="12192000" y="0"/>
                </a:lnTo>
                <a:lnTo>
                  <a:pt x="12192000" y="7548664"/>
                </a:lnTo>
                <a:lnTo>
                  <a:pt x="0" y="754866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C82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45872" y="345872"/>
            <a:ext cx="1175966" cy="242111"/>
          </a:xfrm>
          <a:custGeom>
            <a:avLst/>
            <a:gdLst/>
            <a:ahLst/>
            <a:cxnLst/>
            <a:rect l="l" t="t" r="r" b="b"/>
            <a:pathLst>
              <a:path w="1175966" h="242111">
                <a:moveTo>
                  <a:pt x="34588" y="0"/>
                </a:moveTo>
                <a:lnTo>
                  <a:pt x="1141378" y="0"/>
                </a:lnTo>
                <a:cubicBezTo>
                  <a:pt x="1160480" y="0"/>
                  <a:pt x="1175966" y="15486"/>
                  <a:pt x="1175966" y="34588"/>
                </a:cubicBezTo>
                <a:lnTo>
                  <a:pt x="1175966" y="207523"/>
                </a:lnTo>
                <a:cubicBezTo>
                  <a:pt x="1175966" y="226625"/>
                  <a:pt x="1160480" y="242111"/>
                  <a:pt x="1141378" y="242111"/>
                </a:cubicBezTo>
                <a:lnTo>
                  <a:pt x="34588" y="242111"/>
                </a:lnTo>
                <a:cubicBezTo>
                  <a:pt x="15486" y="242111"/>
                  <a:pt x="0" y="226625"/>
                  <a:pt x="0" y="207523"/>
                </a:cubicBezTo>
                <a:lnTo>
                  <a:pt x="0" y="34588"/>
                </a:lnTo>
                <a:cubicBezTo>
                  <a:pt x="0" y="15498"/>
                  <a:pt x="15498" y="0"/>
                  <a:pt x="34588" y="0"/>
                </a:cubicBezTo>
                <a:close/>
              </a:path>
            </a:pathLst>
          </a:custGeom>
          <a:solidFill>
            <a:srgbClr val="C5A575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345872" y="345872"/>
            <a:ext cx="1236494" cy="242111"/>
          </a:xfrm>
          <a:prstGeom prst="rect">
            <a:avLst/>
          </a:prstGeom>
          <a:noFill/>
          <a:ln/>
        </p:spPr>
        <p:txBody>
          <a:bodyPr wrap="square" lIns="103762" tIns="34587" rIns="103762" bIns="34587" rtlCol="0" anchor="ctr"/>
          <a:lstStyle/>
          <a:p>
            <a:pPr>
              <a:lnSpc>
                <a:spcPct val="120000"/>
              </a:lnSpc>
            </a:pPr>
            <a:r>
              <a:rPr lang="en-US" sz="953" b="1" dirty="0">
                <a:solidFill>
                  <a:srgbClr val="C5A57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THOUGHTS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5872" y="691745"/>
            <a:ext cx="11707779" cy="1037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6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26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671320" y="2117063"/>
            <a:ext cx="8843956" cy="1563343"/>
          </a:xfrm>
          <a:custGeom>
            <a:avLst/>
            <a:gdLst/>
            <a:ahLst/>
            <a:cxnLst/>
            <a:rect l="l" t="t" r="r" b="b"/>
            <a:pathLst>
              <a:path w="8843956" h="1563343">
                <a:moveTo>
                  <a:pt x="69178" y="0"/>
                </a:moveTo>
                <a:lnTo>
                  <a:pt x="8774778" y="0"/>
                </a:lnTo>
                <a:cubicBezTo>
                  <a:pt x="8812984" y="0"/>
                  <a:pt x="8843956" y="30972"/>
                  <a:pt x="8843956" y="69178"/>
                </a:cubicBezTo>
                <a:lnTo>
                  <a:pt x="8843956" y="1494165"/>
                </a:lnTo>
                <a:cubicBezTo>
                  <a:pt x="8843956" y="1532371"/>
                  <a:pt x="8812984" y="1563343"/>
                  <a:pt x="8774778" y="1563343"/>
                </a:cubicBezTo>
                <a:lnTo>
                  <a:pt x="69178" y="1563343"/>
                </a:lnTo>
                <a:cubicBezTo>
                  <a:pt x="30972" y="1563343"/>
                  <a:pt x="0" y="1532371"/>
                  <a:pt x="0" y="1494165"/>
                </a:cubicBezTo>
                <a:lnTo>
                  <a:pt x="0" y="69178"/>
                </a:lnTo>
                <a:cubicBezTo>
                  <a:pt x="0" y="30972"/>
                  <a:pt x="30972" y="0"/>
                  <a:pt x="69178" y="0"/>
                </a:cubicBezTo>
                <a:close/>
              </a:path>
            </a:pathLst>
          </a:custGeom>
          <a:solidFill>
            <a:srgbClr val="4A6C82">
              <a:alpha val="20000"/>
            </a:srgbClr>
          </a:solidFill>
          <a:ln w="10160">
            <a:solidFill>
              <a:srgbClr val="4A6C82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82302" y="2328043"/>
            <a:ext cx="484221" cy="484221"/>
          </a:xfrm>
          <a:custGeom>
            <a:avLst/>
            <a:gdLst/>
            <a:ahLst/>
            <a:cxnLst/>
            <a:rect l="l" t="t" r="r" b="b"/>
            <a:pathLst>
              <a:path w="484221" h="484221">
                <a:moveTo>
                  <a:pt x="242111" y="0"/>
                </a:moveTo>
                <a:lnTo>
                  <a:pt x="242111" y="0"/>
                </a:lnTo>
                <a:cubicBezTo>
                  <a:pt x="375825" y="0"/>
                  <a:pt x="484221" y="108397"/>
                  <a:pt x="484221" y="242111"/>
                </a:cubicBezTo>
                <a:lnTo>
                  <a:pt x="484221" y="242111"/>
                </a:lnTo>
                <a:cubicBezTo>
                  <a:pt x="484221" y="375825"/>
                  <a:pt x="375825" y="484221"/>
                  <a:pt x="242111" y="484221"/>
                </a:cubicBezTo>
                <a:lnTo>
                  <a:pt x="242111" y="484221"/>
                </a:lnTo>
                <a:cubicBezTo>
                  <a:pt x="108397" y="484221"/>
                  <a:pt x="0" y="375825"/>
                  <a:pt x="0" y="242111"/>
                </a:cubicBezTo>
                <a:lnTo>
                  <a:pt x="0" y="242111"/>
                </a:lnTo>
                <a:cubicBezTo>
                  <a:pt x="0" y="108397"/>
                  <a:pt x="108397" y="0"/>
                  <a:pt x="242111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9" name="Shape 6"/>
          <p:cNvSpPr/>
          <p:nvPr/>
        </p:nvSpPr>
        <p:spPr>
          <a:xfrm>
            <a:off x="2020651" y="2466392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103762" y="207523"/>
                </a:moveTo>
                <a:cubicBezTo>
                  <a:pt x="161029" y="207523"/>
                  <a:pt x="207523" y="161029"/>
                  <a:pt x="207523" y="103762"/>
                </a:cubicBezTo>
                <a:cubicBezTo>
                  <a:pt x="207523" y="46494"/>
                  <a:pt x="161029" y="0"/>
                  <a:pt x="103762" y="0"/>
                </a:cubicBezTo>
                <a:cubicBezTo>
                  <a:pt x="46494" y="0"/>
                  <a:pt x="0" y="46494"/>
                  <a:pt x="0" y="103762"/>
                </a:cubicBezTo>
                <a:cubicBezTo>
                  <a:pt x="0" y="161029"/>
                  <a:pt x="46494" y="207523"/>
                  <a:pt x="103762" y="207523"/>
                </a:cubicBezTo>
                <a:close/>
                <a:moveTo>
                  <a:pt x="137971" y="86211"/>
                </a:moveTo>
                <a:lnTo>
                  <a:pt x="105545" y="138092"/>
                </a:lnTo>
                <a:cubicBezTo>
                  <a:pt x="103843" y="140808"/>
                  <a:pt x="100924" y="142510"/>
                  <a:pt x="97722" y="142672"/>
                </a:cubicBezTo>
                <a:cubicBezTo>
                  <a:pt x="94520" y="142834"/>
                  <a:pt x="91440" y="141375"/>
                  <a:pt x="89535" y="138781"/>
                </a:cubicBezTo>
                <a:lnTo>
                  <a:pt x="70080" y="112841"/>
                </a:lnTo>
                <a:cubicBezTo>
                  <a:pt x="66837" y="108544"/>
                  <a:pt x="67729" y="102465"/>
                  <a:pt x="72025" y="99222"/>
                </a:cubicBezTo>
                <a:cubicBezTo>
                  <a:pt x="76322" y="95980"/>
                  <a:pt x="82401" y="96871"/>
                  <a:pt x="85644" y="101168"/>
                </a:cubicBezTo>
                <a:lnTo>
                  <a:pt x="96588" y="115759"/>
                </a:lnTo>
                <a:lnTo>
                  <a:pt x="121474" y="75916"/>
                </a:lnTo>
                <a:cubicBezTo>
                  <a:pt x="124311" y="71377"/>
                  <a:pt x="130310" y="69958"/>
                  <a:pt x="134890" y="72836"/>
                </a:cubicBezTo>
                <a:cubicBezTo>
                  <a:pt x="139470" y="75714"/>
                  <a:pt x="140848" y="81672"/>
                  <a:pt x="137971" y="862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2504872" y="2328043"/>
            <a:ext cx="7903183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504872" y="2708393"/>
            <a:ext cx="7877243" cy="760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sentiment </a:t>
            </a:r>
            <a:pPr>
              <a:lnSpc>
                <a:spcPct val="140000"/>
              </a:lnSpc>
            </a:pPr>
            <a:r>
              <a:rPr lang="en-US" sz="1226" dirty="0">
                <a:solidFill>
                  <a:srgbClr val="C5A575"/>
                </a:solidFill>
                <a:highlight>
                  <a:srgbClr val="C5A575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strongly influences trader behavior, performance, and risk outcomes </a:t>
            </a:r>
            <a:pPr>
              <a:lnSpc>
                <a:spcPct val="140000"/>
              </a:lnSpc>
            </a:pPr>
            <a:r>
              <a:rPr lang="en-US" sz="12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Using the Fear &amp; Greed Index, we quantified significant performance gaps between sentiment regimes: Greed periods deliver 2.4x higher PnL and 19.9% better win rates than Fear periods. These findings are statistically significant (p &lt; 0.001).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71320" y="3892580"/>
            <a:ext cx="8843956" cy="2773896"/>
          </a:xfrm>
          <a:custGeom>
            <a:avLst/>
            <a:gdLst/>
            <a:ahLst/>
            <a:cxnLst/>
            <a:rect l="l" t="t" r="r" b="b"/>
            <a:pathLst>
              <a:path w="8843956" h="2773896">
                <a:moveTo>
                  <a:pt x="69181" y="0"/>
                </a:moveTo>
                <a:lnTo>
                  <a:pt x="8774775" y="0"/>
                </a:lnTo>
                <a:cubicBezTo>
                  <a:pt x="8812982" y="0"/>
                  <a:pt x="8843956" y="30973"/>
                  <a:pt x="8843956" y="69181"/>
                </a:cubicBezTo>
                <a:lnTo>
                  <a:pt x="8843956" y="2704715"/>
                </a:lnTo>
                <a:cubicBezTo>
                  <a:pt x="8843956" y="2742923"/>
                  <a:pt x="8812982" y="2773896"/>
                  <a:pt x="8774775" y="2773896"/>
                </a:cubicBezTo>
                <a:lnTo>
                  <a:pt x="69181" y="2773896"/>
                </a:lnTo>
                <a:cubicBezTo>
                  <a:pt x="30973" y="2773896"/>
                  <a:pt x="0" y="2742923"/>
                  <a:pt x="0" y="2704715"/>
                </a:cubicBezTo>
                <a:lnTo>
                  <a:pt x="0" y="69181"/>
                </a:lnTo>
                <a:cubicBezTo>
                  <a:pt x="0" y="30999"/>
                  <a:pt x="30999" y="0"/>
                  <a:pt x="69181" y="0"/>
                </a:cubicBezTo>
                <a:close/>
              </a:path>
            </a:pathLst>
          </a:custGeom>
          <a:solidFill>
            <a:srgbClr val="8B8C7A">
              <a:alpha val="20000"/>
            </a:srgbClr>
          </a:solidFill>
          <a:ln w="10160">
            <a:solidFill>
              <a:srgbClr val="8B8C7A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82302" y="4103561"/>
            <a:ext cx="484221" cy="484221"/>
          </a:xfrm>
          <a:custGeom>
            <a:avLst/>
            <a:gdLst/>
            <a:ahLst/>
            <a:cxnLst/>
            <a:rect l="l" t="t" r="r" b="b"/>
            <a:pathLst>
              <a:path w="484221" h="484221">
                <a:moveTo>
                  <a:pt x="242111" y="0"/>
                </a:moveTo>
                <a:lnTo>
                  <a:pt x="242111" y="0"/>
                </a:lnTo>
                <a:cubicBezTo>
                  <a:pt x="375825" y="0"/>
                  <a:pt x="484221" y="108397"/>
                  <a:pt x="484221" y="242111"/>
                </a:cubicBezTo>
                <a:lnTo>
                  <a:pt x="484221" y="242111"/>
                </a:lnTo>
                <a:cubicBezTo>
                  <a:pt x="484221" y="375825"/>
                  <a:pt x="375825" y="484221"/>
                  <a:pt x="242111" y="484221"/>
                </a:cubicBezTo>
                <a:lnTo>
                  <a:pt x="242111" y="484221"/>
                </a:lnTo>
                <a:cubicBezTo>
                  <a:pt x="108397" y="484221"/>
                  <a:pt x="0" y="375825"/>
                  <a:pt x="0" y="242111"/>
                </a:cubicBezTo>
                <a:lnTo>
                  <a:pt x="0" y="242111"/>
                </a:lnTo>
                <a:cubicBezTo>
                  <a:pt x="0" y="108397"/>
                  <a:pt x="108397" y="0"/>
                  <a:pt x="242111" y="0"/>
                </a:cubicBez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14" name="Shape 11"/>
          <p:cNvSpPr/>
          <p:nvPr/>
        </p:nvSpPr>
        <p:spPr>
          <a:xfrm>
            <a:off x="2020651" y="4241910"/>
            <a:ext cx="207523" cy="207523"/>
          </a:xfrm>
          <a:custGeom>
            <a:avLst/>
            <a:gdLst/>
            <a:ahLst/>
            <a:cxnLst/>
            <a:rect l="l" t="t" r="r" b="b"/>
            <a:pathLst>
              <a:path w="207523" h="207523">
                <a:moveTo>
                  <a:pt x="203713" y="112922"/>
                </a:moveTo>
                <a:cubicBezTo>
                  <a:pt x="208780" y="107855"/>
                  <a:pt x="208780" y="99627"/>
                  <a:pt x="203713" y="94561"/>
                </a:cubicBezTo>
                <a:lnTo>
                  <a:pt x="138862" y="29710"/>
                </a:lnTo>
                <a:cubicBezTo>
                  <a:pt x="133796" y="24643"/>
                  <a:pt x="125568" y="24643"/>
                  <a:pt x="120501" y="29710"/>
                </a:cubicBezTo>
                <a:cubicBezTo>
                  <a:pt x="115435" y="34776"/>
                  <a:pt x="115435" y="43004"/>
                  <a:pt x="120501" y="48071"/>
                </a:cubicBezTo>
                <a:lnTo>
                  <a:pt x="163222" y="90791"/>
                </a:lnTo>
                <a:lnTo>
                  <a:pt x="12970" y="90791"/>
                </a:lnTo>
                <a:cubicBezTo>
                  <a:pt x="5796" y="90791"/>
                  <a:pt x="0" y="96588"/>
                  <a:pt x="0" y="103762"/>
                </a:cubicBezTo>
                <a:cubicBezTo>
                  <a:pt x="0" y="110936"/>
                  <a:pt x="5796" y="116732"/>
                  <a:pt x="12970" y="116732"/>
                </a:cubicBezTo>
                <a:lnTo>
                  <a:pt x="163222" y="116732"/>
                </a:lnTo>
                <a:lnTo>
                  <a:pt x="120501" y="159453"/>
                </a:lnTo>
                <a:cubicBezTo>
                  <a:pt x="115435" y="164519"/>
                  <a:pt x="115435" y="172747"/>
                  <a:pt x="120501" y="177814"/>
                </a:cubicBezTo>
                <a:cubicBezTo>
                  <a:pt x="125568" y="182880"/>
                  <a:pt x="133796" y="182880"/>
                  <a:pt x="138862" y="177814"/>
                </a:cubicBezTo>
                <a:lnTo>
                  <a:pt x="203713" y="11296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2504872" y="4103561"/>
            <a:ext cx="7903183" cy="276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22166" y="4518498"/>
            <a:ext cx="3813243" cy="899268"/>
          </a:xfrm>
          <a:custGeom>
            <a:avLst/>
            <a:gdLst/>
            <a:ahLst/>
            <a:cxnLst/>
            <a:rect l="l" t="t" r="r" b="b"/>
            <a:pathLst>
              <a:path w="3813243" h="899268">
                <a:moveTo>
                  <a:pt x="34587" y="0"/>
                </a:moveTo>
                <a:lnTo>
                  <a:pt x="3744071" y="0"/>
                </a:lnTo>
                <a:cubicBezTo>
                  <a:pt x="3782273" y="0"/>
                  <a:pt x="3813243" y="30969"/>
                  <a:pt x="3813243" y="69172"/>
                </a:cubicBezTo>
                <a:lnTo>
                  <a:pt x="3813243" y="830096"/>
                </a:lnTo>
                <a:cubicBezTo>
                  <a:pt x="3813243" y="868299"/>
                  <a:pt x="3782273" y="899268"/>
                  <a:pt x="3744071" y="899268"/>
                </a:cubicBezTo>
                <a:lnTo>
                  <a:pt x="34587" y="899268"/>
                </a:lnTo>
                <a:cubicBezTo>
                  <a:pt x="15485" y="899268"/>
                  <a:pt x="0" y="883783"/>
                  <a:pt x="0" y="864681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2522166" y="4518498"/>
            <a:ext cx="34587" cy="899268"/>
          </a:xfrm>
          <a:custGeom>
            <a:avLst/>
            <a:gdLst/>
            <a:ahLst/>
            <a:cxnLst/>
            <a:rect l="l" t="t" r="r" b="b"/>
            <a:pathLst>
              <a:path w="34587" h="899268">
                <a:moveTo>
                  <a:pt x="34587" y="0"/>
                </a:moveTo>
                <a:lnTo>
                  <a:pt x="34587" y="0"/>
                </a:lnTo>
                <a:lnTo>
                  <a:pt x="34587" y="899268"/>
                </a:lnTo>
                <a:lnTo>
                  <a:pt x="34587" y="899268"/>
                </a:lnTo>
                <a:cubicBezTo>
                  <a:pt x="15485" y="899268"/>
                  <a:pt x="0" y="883783"/>
                  <a:pt x="0" y="864681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8" name="Shape 15"/>
          <p:cNvSpPr/>
          <p:nvPr/>
        </p:nvSpPr>
        <p:spPr>
          <a:xfrm>
            <a:off x="2695102" y="4684518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17294" y="17294"/>
                </a:moveTo>
                <a:cubicBezTo>
                  <a:pt x="17294" y="12511"/>
                  <a:pt x="13430" y="8647"/>
                  <a:pt x="8647" y="8647"/>
                </a:cubicBezTo>
                <a:cubicBezTo>
                  <a:pt x="3864" y="8647"/>
                  <a:pt x="0" y="12511"/>
                  <a:pt x="0" y="17294"/>
                </a:cubicBezTo>
                <a:lnTo>
                  <a:pt x="0" y="108085"/>
                </a:lnTo>
                <a:cubicBezTo>
                  <a:pt x="0" y="120029"/>
                  <a:pt x="9674" y="129702"/>
                  <a:pt x="21617" y="129702"/>
                </a:cubicBezTo>
                <a:lnTo>
                  <a:pt x="129702" y="129702"/>
                </a:lnTo>
                <a:cubicBezTo>
                  <a:pt x="134485" y="129702"/>
                  <a:pt x="138349" y="125838"/>
                  <a:pt x="138349" y="121055"/>
                </a:cubicBezTo>
                <a:cubicBezTo>
                  <a:pt x="138349" y="116273"/>
                  <a:pt x="134485" y="112409"/>
                  <a:pt x="129702" y="112409"/>
                </a:cubicBezTo>
                <a:lnTo>
                  <a:pt x="21617" y="112409"/>
                </a:lnTo>
                <a:cubicBezTo>
                  <a:pt x="19239" y="112409"/>
                  <a:pt x="17294" y="110463"/>
                  <a:pt x="17294" y="108085"/>
                </a:cubicBezTo>
                <a:lnTo>
                  <a:pt x="17294" y="17294"/>
                </a:lnTo>
                <a:close/>
                <a:moveTo>
                  <a:pt x="127162" y="40694"/>
                </a:moveTo>
                <a:cubicBezTo>
                  <a:pt x="130540" y="37316"/>
                  <a:pt x="130540" y="31831"/>
                  <a:pt x="127162" y="28453"/>
                </a:cubicBezTo>
                <a:cubicBezTo>
                  <a:pt x="123784" y="25076"/>
                  <a:pt x="118299" y="25076"/>
                  <a:pt x="114921" y="28453"/>
                </a:cubicBezTo>
                <a:lnTo>
                  <a:pt x="86468" y="56934"/>
                </a:lnTo>
                <a:lnTo>
                  <a:pt x="70958" y="41451"/>
                </a:lnTo>
                <a:cubicBezTo>
                  <a:pt x="67580" y="38073"/>
                  <a:pt x="62095" y="38073"/>
                  <a:pt x="58717" y="41451"/>
                </a:cubicBezTo>
                <a:lnTo>
                  <a:pt x="32777" y="67391"/>
                </a:lnTo>
                <a:cubicBezTo>
                  <a:pt x="29399" y="70769"/>
                  <a:pt x="29399" y="76254"/>
                  <a:pt x="32777" y="79632"/>
                </a:cubicBezTo>
                <a:cubicBezTo>
                  <a:pt x="36154" y="83009"/>
                  <a:pt x="41640" y="83009"/>
                  <a:pt x="45017" y="79632"/>
                </a:cubicBezTo>
                <a:lnTo>
                  <a:pt x="64851" y="59798"/>
                </a:lnTo>
                <a:lnTo>
                  <a:pt x="80361" y="75308"/>
                </a:lnTo>
                <a:cubicBezTo>
                  <a:pt x="83739" y="78686"/>
                  <a:pt x="89224" y="78686"/>
                  <a:pt x="92602" y="75308"/>
                </a:cubicBezTo>
                <a:lnTo>
                  <a:pt x="127189" y="40721"/>
                </a:ln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19" name="Text 16"/>
          <p:cNvSpPr/>
          <p:nvPr/>
        </p:nvSpPr>
        <p:spPr>
          <a:xfrm>
            <a:off x="2897842" y="4656847"/>
            <a:ext cx="3368392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Incorporate Sentiment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677809" y="4933545"/>
            <a:ext cx="357977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the Fear &amp; Greed Index to dynamically adjust position sizing and stop-loss logic.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92781" y="4518498"/>
            <a:ext cx="3813243" cy="899268"/>
          </a:xfrm>
          <a:custGeom>
            <a:avLst/>
            <a:gdLst/>
            <a:ahLst/>
            <a:cxnLst/>
            <a:rect l="l" t="t" r="r" b="b"/>
            <a:pathLst>
              <a:path w="3813243" h="899268">
                <a:moveTo>
                  <a:pt x="34587" y="0"/>
                </a:moveTo>
                <a:lnTo>
                  <a:pt x="3744071" y="0"/>
                </a:lnTo>
                <a:cubicBezTo>
                  <a:pt x="3782273" y="0"/>
                  <a:pt x="3813243" y="30969"/>
                  <a:pt x="3813243" y="69172"/>
                </a:cubicBezTo>
                <a:lnTo>
                  <a:pt x="3813243" y="830096"/>
                </a:lnTo>
                <a:cubicBezTo>
                  <a:pt x="3813243" y="868299"/>
                  <a:pt x="3782273" y="899268"/>
                  <a:pt x="3744071" y="899268"/>
                </a:cubicBezTo>
                <a:lnTo>
                  <a:pt x="34587" y="899268"/>
                </a:lnTo>
                <a:cubicBezTo>
                  <a:pt x="15485" y="899268"/>
                  <a:pt x="0" y="883783"/>
                  <a:pt x="0" y="864681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492781" y="4518498"/>
            <a:ext cx="34587" cy="899268"/>
          </a:xfrm>
          <a:custGeom>
            <a:avLst/>
            <a:gdLst/>
            <a:ahLst/>
            <a:cxnLst/>
            <a:rect l="l" t="t" r="r" b="b"/>
            <a:pathLst>
              <a:path w="34587" h="899268">
                <a:moveTo>
                  <a:pt x="34587" y="0"/>
                </a:moveTo>
                <a:lnTo>
                  <a:pt x="34587" y="0"/>
                </a:lnTo>
                <a:lnTo>
                  <a:pt x="34587" y="899268"/>
                </a:lnTo>
                <a:lnTo>
                  <a:pt x="34587" y="899268"/>
                </a:lnTo>
                <a:cubicBezTo>
                  <a:pt x="15485" y="899268"/>
                  <a:pt x="0" y="883783"/>
                  <a:pt x="0" y="864681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23" name="Shape 20"/>
          <p:cNvSpPr/>
          <p:nvPr/>
        </p:nvSpPr>
        <p:spPr>
          <a:xfrm>
            <a:off x="6665717" y="4684518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32426" y="15132"/>
                </a:moveTo>
                <a:cubicBezTo>
                  <a:pt x="32426" y="6782"/>
                  <a:pt x="39208" y="0"/>
                  <a:pt x="47557" y="0"/>
                </a:cubicBezTo>
                <a:lnTo>
                  <a:pt x="54043" y="0"/>
                </a:lnTo>
                <a:cubicBezTo>
                  <a:pt x="58825" y="0"/>
                  <a:pt x="62689" y="3864"/>
                  <a:pt x="62689" y="8647"/>
                </a:cubicBezTo>
                <a:lnTo>
                  <a:pt x="62689" y="129702"/>
                </a:lnTo>
                <a:cubicBezTo>
                  <a:pt x="62689" y="134485"/>
                  <a:pt x="58825" y="138349"/>
                  <a:pt x="54043" y="138349"/>
                </a:cubicBezTo>
                <a:lnTo>
                  <a:pt x="45396" y="138349"/>
                </a:lnTo>
                <a:cubicBezTo>
                  <a:pt x="37343" y="138349"/>
                  <a:pt x="30561" y="132837"/>
                  <a:pt x="28643" y="125379"/>
                </a:cubicBezTo>
                <a:cubicBezTo>
                  <a:pt x="28453" y="125379"/>
                  <a:pt x="28291" y="125379"/>
                  <a:pt x="28102" y="125379"/>
                </a:cubicBezTo>
                <a:cubicBezTo>
                  <a:pt x="16159" y="125379"/>
                  <a:pt x="6485" y="115705"/>
                  <a:pt x="6485" y="103762"/>
                </a:cubicBezTo>
                <a:cubicBezTo>
                  <a:pt x="6485" y="98898"/>
                  <a:pt x="8106" y="94412"/>
                  <a:pt x="10809" y="90791"/>
                </a:cubicBezTo>
                <a:cubicBezTo>
                  <a:pt x="5566" y="86846"/>
                  <a:pt x="2162" y="80577"/>
                  <a:pt x="2162" y="73498"/>
                </a:cubicBezTo>
                <a:cubicBezTo>
                  <a:pt x="2162" y="65148"/>
                  <a:pt x="6917" y="57880"/>
                  <a:pt x="13835" y="54286"/>
                </a:cubicBezTo>
                <a:cubicBezTo>
                  <a:pt x="11916" y="51043"/>
                  <a:pt x="10809" y="47260"/>
                  <a:pt x="10809" y="43234"/>
                </a:cubicBezTo>
                <a:cubicBezTo>
                  <a:pt x="10809" y="31291"/>
                  <a:pt x="20482" y="21617"/>
                  <a:pt x="32426" y="21617"/>
                </a:cubicBezTo>
                <a:lnTo>
                  <a:pt x="32426" y="15132"/>
                </a:lnTo>
                <a:close/>
                <a:moveTo>
                  <a:pt x="105923" y="15132"/>
                </a:moveTo>
                <a:lnTo>
                  <a:pt x="105923" y="21617"/>
                </a:lnTo>
                <a:cubicBezTo>
                  <a:pt x="117867" y="21617"/>
                  <a:pt x="127540" y="31291"/>
                  <a:pt x="127540" y="43234"/>
                </a:cubicBezTo>
                <a:cubicBezTo>
                  <a:pt x="127540" y="47287"/>
                  <a:pt x="126433" y="51070"/>
                  <a:pt x="124514" y="54286"/>
                </a:cubicBezTo>
                <a:cubicBezTo>
                  <a:pt x="131459" y="57880"/>
                  <a:pt x="136187" y="65121"/>
                  <a:pt x="136187" y="73498"/>
                </a:cubicBezTo>
                <a:cubicBezTo>
                  <a:pt x="136187" y="80577"/>
                  <a:pt x="132783" y="86846"/>
                  <a:pt x="127540" y="90791"/>
                </a:cubicBezTo>
                <a:cubicBezTo>
                  <a:pt x="130243" y="94412"/>
                  <a:pt x="131864" y="98898"/>
                  <a:pt x="131864" y="103762"/>
                </a:cubicBezTo>
                <a:cubicBezTo>
                  <a:pt x="131864" y="115705"/>
                  <a:pt x="122190" y="125379"/>
                  <a:pt x="110247" y="125379"/>
                </a:cubicBezTo>
                <a:cubicBezTo>
                  <a:pt x="110058" y="125379"/>
                  <a:pt x="109896" y="125379"/>
                  <a:pt x="109706" y="125379"/>
                </a:cubicBezTo>
                <a:cubicBezTo>
                  <a:pt x="107788" y="132837"/>
                  <a:pt x="101006" y="138349"/>
                  <a:pt x="92953" y="138349"/>
                </a:cubicBezTo>
                <a:lnTo>
                  <a:pt x="84306" y="138349"/>
                </a:lnTo>
                <a:cubicBezTo>
                  <a:pt x="79524" y="138349"/>
                  <a:pt x="75660" y="134485"/>
                  <a:pt x="75660" y="129702"/>
                </a:cubicBezTo>
                <a:lnTo>
                  <a:pt x="75660" y="8647"/>
                </a:lnTo>
                <a:cubicBezTo>
                  <a:pt x="75660" y="3864"/>
                  <a:pt x="79524" y="0"/>
                  <a:pt x="84306" y="0"/>
                </a:cubicBezTo>
                <a:lnTo>
                  <a:pt x="90791" y="0"/>
                </a:lnTo>
                <a:cubicBezTo>
                  <a:pt x="99141" y="0"/>
                  <a:pt x="105923" y="6782"/>
                  <a:pt x="105923" y="15132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24" name="Text 21"/>
          <p:cNvSpPr/>
          <p:nvPr/>
        </p:nvSpPr>
        <p:spPr>
          <a:xfrm>
            <a:off x="6868457" y="4656847"/>
            <a:ext cx="3368392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Modeling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648423" y="4933545"/>
            <a:ext cx="357977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ML models incorporating sentiment to predict trade outcomes and filter signals.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522166" y="5556115"/>
            <a:ext cx="3813243" cy="899268"/>
          </a:xfrm>
          <a:custGeom>
            <a:avLst/>
            <a:gdLst/>
            <a:ahLst/>
            <a:cxnLst/>
            <a:rect l="l" t="t" r="r" b="b"/>
            <a:pathLst>
              <a:path w="3813243" h="899268">
                <a:moveTo>
                  <a:pt x="34587" y="0"/>
                </a:moveTo>
                <a:lnTo>
                  <a:pt x="3744071" y="0"/>
                </a:lnTo>
                <a:cubicBezTo>
                  <a:pt x="3782273" y="0"/>
                  <a:pt x="3813243" y="30969"/>
                  <a:pt x="3813243" y="69172"/>
                </a:cubicBezTo>
                <a:lnTo>
                  <a:pt x="3813243" y="830096"/>
                </a:lnTo>
                <a:cubicBezTo>
                  <a:pt x="3813243" y="868299"/>
                  <a:pt x="3782273" y="899268"/>
                  <a:pt x="3744071" y="899268"/>
                </a:cubicBezTo>
                <a:lnTo>
                  <a:pt x="34587" y="899268"/>
                </a:lnTo>
                <a:cubicBezTo>
                  <a:pt x="15485" y="899268"/>
                  <a:pt x="0" y="883783"/>
                  <a:pt x="0" y="864681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522166" y="5556115"/>
            <a:ext cx="34587" cy="899268"/>
          </a:xfrm>
          <a:custGeom>
            <a:avLst/>
            <a:gdLst/>
            <a:ahLst/>
            <a:cxnLst/>
            <a:rect l="l" t="t" r="r" b="b"/>
            <a:pathLst>
              <a:path w="34587" h="899268">
                <a:moveTo>
                  <a:pt x="34587" y="0"/>
                </a:moveTo>
                <a:lnTo>
                  <a:pt x="34587" y="0"/>
                </a:lnTo>
                <a:lnTo>
                  <a:pt x="34587" y="899268"/>
                </a:lnTo>
                <a:lnTo>
                  <a:pt x="34587" y="899268"/>
                </a:lnTo>
                <a:cubicBezTo>
                  <a:pt x="15485" y="899268"/>
                  <a:pt x="0" y="883783"/>
                  <a:pt x="0" y="864681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28" name="Shape 25"/>
          <p:cNvSpPr/>
          <p:nvPr/>
        </p:nvSpPr>
        <p:spPr>
          <a:xfrm>
            <a:off x="2677809" y="5722135"/>
            <a:ext cx="172936" cy="138349"/>
          </a:xfrm>
          <a:custGeom>
            <a:avLst/>
            <a:gdLst/>
            <a:ahLst/>
            <a:cxnLst/>
            <a:rect l="l" t="t" r="r" b="b"/>
            <a:pathLst>
              <a:path w="172936" h="138349">
                <a:moveTo>
                  <a:pt x="86468" y="4323"/>
                </a:moveTo>
                <a:cubicBezTo>
                  <a:pt x="101978" y="4323"/>
                  <a:pt x="114570" y="16916"/>
                  <a:pt x="114570" y="32426"/>
                </a:cubicBezTo>
                <a:cubicBezTo>
                  <a:pt x="114570" y="47936"/>
                  <a:pt x="101978" y="60528"/>
                  <a:pt x="86468" y="60528"/>
                </a:cubicBezTo>
                <a:cubicBezTo>
                  <a:pt x="70958" y="60528"/>
                  <a:pt x="58366" y="47936"/>
                  <a:pt x="58366" y="32426"/>
                </a:cubicBezTo>
                <a:cubicBezTo>
                  <a:pt x="58366" y="16916"/>
                  <a:pt x="70958" y="4323"/>
                  <a:pt x="86468" y="4323"/>
                </a:cubicBezTo>
                <a:close/>
                <a:moveTo>
                  <a:pt x="25940" y="23779"/>
                </a:moveTo>
                <a:cubicBezTo>
                  <a:pt x="36678" y="23779"/>
                  <a:pt x="45396" y="32496"/>
                  <a:pt x="45396" y="43234"/>
                </a:cubicBezTo>
                <a:cubicBezTo>
                  <a:pt x="45396" y="53972"/>
                  <a:pt x="36678" y="62689"/>
                  <a:pt x="25940" y="62689"/>
                </a:cubicBezTo>
                <a:cubicBezTo>
                  <a:pt x="15203" y="62689"/>
                  <a:pt x="6485" y="53972"/>
                  <a:pt x="6485" y="43234"/>
                </a:cubicBezTo>
                <a:cubicBezTo>
                  <a:pt x="6485" y="32496"/>
                  <a:pt x="15203" y="23779"/>
                  <a:pt x="25940" y="23779"/>
                </a:cubicBezTo>
                <a:close/>
                <a:moveTo>
                  <a:pt x="0" y="112409"/>
                </a:moveTo>
                <a:cubicBezTo>
                  <a:pt x="0" y="93304"/>
                  <a:pt x="15483" y="77821"/>
                  <a:pt x="34587" y="77821"/>
                </a:cubicBezTo>
                <a:cubicBezTo>
                  <a:pt x="38046" y="77821"/>
                  <a:pt x="41397" y="78335"/>
                  <a:pt x="44558" y="79280"/>
                </a:cubicBezTo>
                <a:cubicBezTo>
                  <a:pt x="35668" y="89224"/>
                  <a:pt x="30264" y="102357"/>
                  <a:pt x="30264" y="116732"/>
                </a:cubicBezTo>
                <a:lnTo>
                  <a:pt x="30264" y="121055"/>
                </a:lnTo>
                <a:cubicBezTo>
                  <a:pt x="30264" y="124136"/>
                  <a:pt x="30912" y="127054"/>
                  <a:pt x="32074" y="129702"/>
                </a:cubicBezTo>
                <a:lnTo>
                  <a:pt x="8647" y="129702"/>
                </a:lnTo>
                <a:cubicBezTo>
                  <a:pt x="3864" y="129702"/>
                  <a:pt x="0" y="125838"/>
                  <a:pt x="0" y="121055"/>
                </a:cubicBezTo>
                <a:lnTo>
                  <a:pt x="0" y="112409"/>
                </a:lnTo>
                <a:close/>
                <a:moveTo>
                  <a:pt x="140862" y="129702"/>
                </a:moveTo>
                <a:cubicBezTo>
                  <a:pt x="142024" y="127054"/>
                  <a:pt x="142672" y="124136"/>
                  <a:pt x="142672" y="121055"/>
                </a:cubicBezTo>
                <a:lnTo>
                  <a:pt x="142672" y="116732"/>
                </a:lnTo>
                <a:cubicBezTo>
                  <a:pt x="142672" y="102357"/>
                  <a:pt x="137268" y="89224"/>
                  <a:pt x="128378" y="79280"/>
                </a:cubicBezTo>
                <a:cubicBezTo>
                  <a:pt x="131540" y="78335"/>
                  <a:pt x="134890" y="77821"/>
                  <a:pt x="138349" y="77821"/>
                </a:cubicBezTo>
                <a:cubicBezTo>
                  <a:pt x="157453" y="77821"/>
                  <a:pt x="172936" y="93304"/>
                  <a:pt x="172936" y="112409"/>
                </a:cubicBezTo>
                <a:lnTo>
                  <a:pt x="172936" y="121055"/>
                </a:lnTo>
                <a:cubicBezTo>
                  <a:pt x="172936" y="125838"/>
                  <a:pt x="169072" y="129702"/>
                  <a:pt x="164289" y="129702"/>
                </a:cubicBezTo>
                <a:lnTo>
                  <a:pt x="140862" y="129702"/>
                </a:lnTo>
                <a:close/>
                <a:moveTo>
                  <a:pt x="127540" y="43234"/>
                </a:moveTo>
                <a:cubicBezTo>
                  <a:pt x="127540" y="32496"/>
                  <a:pt x="136258" y="23779"/>
                  <a:pt x="146996" y="23779"/>
                </a:cubicBezTo>
                <a:cubicBezTo>
                  <a:pt x="157733" y="23779"/>
                  <a:pt x="166451" y="32496"/>
                  <a:pt x="166451" y="43234"/>
                </a:cubicBezTo>
                <a:cubicBezTo>
                  <a:pt x="166451" y="53972"/>
                  <a:pt x="157733" y="62689"/>
                  <a:pt x="146996" y="62689"/>
                </a:cubicBezTo>
                <a:cubicBezTo>
                  <a:pt x="136258" y="62689"/>
                  <a:pt x="127540" y="53972"/>
                  <a:pt x="127540" y="43234"/>
                </a:cubicBezTo>
                <a:close/>
                <a:moveTo>
                  <a:pt x="43234" y="116732"/>
                </a:moveTo>
                <a:cubicBezTo>
                  <a:pt x="43234" y="92845"/>
                  <a:pt x="62581" y="73498"/>
                  <a:pt x="86468" y="73498"/>
                </a:cubicBezTo>
                <a:cubicBezTo>
                  <a:pt x="110355" y="73498"/>
                  <a:pt x="129702" y="92845"/>
                  <a:pt x="129702" y="116732"/>
                </a:cubicBezTo>
                <a:lnTo>
                  <a:pt x="129702" y="121055"/>
                </a:lnTo>
                <a:cubicBezTo>
                  <a:pt x="129702" y="125838"/>
                  <a:pt x="125838" y="129702"/>
                  <a:pt x="121055" y="129702"/>
                </a:cubicBezTo>
                <a:lnTo>
                  <a:pt x="51881" y="129702"/>
                </a:lnTo>
                <a:cubicBezTo>
                  <a:pt x="47098" y="129702"/>
                  <a:pt x="43234" y="125838"/>
                  <a:pt x="43234" y="121055"/>
                </a:cubicBezTo>
                <a:lnTo>
                  <a:pt x="43234" y="116732"/>
                </a:ln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29" name="Text 26"/>
          <p:cNvSpPr/>
          <p:nvPr/>
        </p:nvSpPr>
        <p:spPr>
          <a:xfrm>
            <a:off x="2897842" y="5694464"/>
            <a:ext cx="3368392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Trader Clustering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677809" y="5971162"/>
            <a:ext cx="357977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trader personas who outperform in Fear—potential contrarian alpha.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492781" y="5556115"/>
            <a:ext cx="3813243" cy="899268"/>
          </a:xfrm>
          <a:custGeom>
            <a:avLst/>
            <a:gdLst/>
            <a:ahLst/>
            <a:cxnLst/>
            <a:rect l="l" t="t" r="r" b="b"/>
            <a:pathLst>
              <a:path w="3813243" h="899268">
                <a:moveTo>
                  <a:pt x="34587" y="0"/>
                </a:moveTo>
                <a:lnTo>
                  <a:pt x="3744071" y="0"/>
                </a:lnTo>
                <a:cubicBezTo>
                  <a:pt x="3782273" y="0"/>
                  <a:pt x="3813243" y="30969"/>
                  <a:pt x="3813243" y="69172"/>
                </a:cubicBezTo>
                <a:lnTo>
                  <a:pt x="3813243" y="830096"/>
                </a:lnTo>
                <a:cubicBezTo>
                  <a:pt x="3813243" y="868299"/>
                  <a:pt x="3782273" y="899268"/>
                  <a:pt x="3744071" y="899268"/>
                </a:cubicBezTo>
                <a:lnTo>
                  <a:pt x="34587" y="899268"/>
                </a:lnTo>
                <a:cubicBezTo>
                  <a:pt x="15485" y="899268"/>
                  <a:pt x="0" y="883783"/>
                  <a:pt x="0" y="864681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492781" y="5556115"/>
            <a:ext cx="34587" cy="899268"/>
          </a:xfrm>
          <a:custGeom>
            <a:avLst/>
            <a:gdLst/>
            <a:ahLst/>
            <a:cxnLst/>
            <a:rect l="l" t="t" r="r" b="b"/>
            <a:pathLst>
              <a:path w="34587" h="899268">
                <a:moveTo>
                  <a:pt x="34587" y="0"/>
                </a:moveTo>
                <a:lnTo>
                  <a:pt x="34587" y="0"/>
                </a:lnTo>
                <a:lnTo>
                  <a:pt x="34587" y="899268"/>
                </a:lnTo>
                <a:lnTo>
                  <a:pt x="34587" y="899268"/>
                </a:lnTo>
                <a:cubicBezTo>
                  <a:pt x="15485" y="899268"/>
                  <a:pt x="0" y="883783"/>
                  <a:pt x="0" y="864681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33" name="Shape 30"/>
          <p:cNvSpPr/>
          <p:nvPr/>
        </p:nvSpPr>
        <p:spPr>
          <a:xfrm>
            <a:off x="6665717" y="5722135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0" y="69174"/>
                </a:moveTo>
                <a:cubicBezTo>
                  <a:pt x="0" y="30996"/>
                  <a:pt x="30996" y="0"/>
                  <a:pt x="69174" y="0"/>
                </a:cubicBezTo>
                <a:cubicBezTo>
                  <a:pt x="107353" y="0"/>
                  <a:pt x="138349" y="30996"/>
                  <a:pt x="138349" y="69174"/>
                </a:cubicBezTo>
                <a:cubicBezTo>
                  <a:pt x="138349" y="107353"/>
                  <a:pt x="107353" y="138349"/>
                  <a:pt x="69174" y="138349"/>
                </a:cubicBezTo>
                <a:cubicBezTo>
                  <a:pt x="30996" y="138349"/>
                  <a:pt x="0" y="107353"/>
                  <a:pt x="0" y="69174"/>
                </a:cubicBezTo>
                <a:close/>
                <a:moveTo>
                  <a:pt x="86468" y="95115"/>
                </a:moveTo>
                <a:cubicBezTo>
                  <a:pt x="86468" y="87846"/>
                  <a:pt x="82010" y="81631"/>
                  <a:pt x="75660" y="79091"/>
                </a:cubicBezTo>
                <a:lnTo>
                  <a:pt x="75660" y="32426"/>
                </a:lnTo>
                <a:cubicBezTo>
                  <a:pt x="75660" y="28832"/>
                  <a:pt x="72768" y="25940"/>
                  <a:pt x="69174" y="25940"/>
                </a:cubicBezTo>
                <a:cubicBezTo>
                  <a:pt x="65581" y="25940"/>
                  <a:pt x="62689" y="28832"/>
                  <a:pt x="62689" y="32426"/>
                </a:cubicBezTo>
                <a:lnTo>
                  <a:pt x="62689" y="79091"/>
                </a:lnTo>
                <a:cubicBezTo>
                  <a:pt x="56339" y="81658"/>
                  <a:pt x="51881" y="87873"/>
                  <a:pt x="51881" y="95115"/>
                </a:cubicBezTo>
                <a:cubicBezTo>
                  <a:pt x="51881" y="104653"/>
                  <a:pt x="59636" y="112409"/>
                  <a:pt x="69174" y="112409"/>
                </a:cubicBezTo>
                <a:cubicBezTo>
                  <a:pt x="78713" y="112409"/>
                  <a:pt x="86468" y="104653"/>
                  <a:pt x="86468" y="95115"/>
                </a:cubicBezTo>
                <a:close/>
                <a:moveTo>
                  <a:pt x="38911" y="47557"/>
                </a:moveTo>
                <a:cubicBezTo>
                  <a:pt x="43683" y="47557"/>
                  <a:pt x="47557" y="43683"/>
                  <a:pt x="47557" y="38911"/>
                </a:cubicBezTo>
                <a:cubicBezTo>
                  <a:pt x="47557" y="34138"/>
                  <a:pt x="43683" y="30264"/>
                  <a:pt x="38911" y="30264"/>
                </a:cubicBezTo>
                <a:cubicBezTo>
                  <a:pt x="34138" y="30264"/>
                  <a:pt x="30264" y="34138"/>
                  <a:pt x="30264" y="38911"/>
                </a:cubicBezTo>
                <a:cubicBezTo>
                  <a:pt x="30264" y="43683"/>
                  <a:pt x="34138" y="47557"/>
                  <a:pt x="38911" y="47557"/>
                </a:cubicBezTo>
                <a:close/>
                <a:moveTo>
                  <a:pt x="34587" y="69174"/>
                </a:moveTo>
                <a:cubicBezTo>
                  <a:pt x="34587" y="64402"/>
                  <a:pt x="30713" y="60528"/>
                  <a:pt x="25940" y="60528"/>
                </a:cubicBezTo>
                <a:cubicBezTo>
                  <a:pt x="21168" y="60528"/>
                  <a:pt x="17294" y="64402"/>
                  <a:pt x="17294" y="69174"/>
                </a:cubicBezTo>
                <a:cubicBezTo>
                  <a:pt x="17294" y="73947"/>
                  <a:pt x="21168" y="77821"/>
                  <a:pt x="25940" y="77821"/>
                </a:cubicBezTo>
                <a:cubicBezTo>
                  <a:pt x="30713" y="77821"/>
                  <a:pt x="34587" y="73947"/>
                  <a:pt x="34587" y="69174"/>
                </a:cubicBezTo>
                <a:close/>
                <a:moveTo>
                  <a:pt x="112409" y="77821"/>
                </a:moveTo>
                <a:cubicBezTo>
                  <a:pt x="117181" y="77821"/>
                  <a:pt x="121055" y="73947"/>
                  <a:pt x="121055" y="69174"/>
                </a:cubicBezTo>
                <a:cubicBezTo>
                  <a:pt x="121055" y="64402"/>
                  <a:pt x="117181" y="60528"/>
                  <a:pt x="112409" y="60528"/>
                </a:cubicBezTo>
                <a:cubicBezTo>
                  <a:pt x="107636" y="60528"/>
                  <a:pt x="103762" y="64402"/>
                  <a:pt x="103762" y="69174"/>
                </a:cubicBezTo>
                <a:cubicBezTo>
                  <a:pt x="103762" y="73947"/>
                  <a:pt x="107636" y="77821"/>
                  <a:pt x="112409" y="77821"/>
                </a:cubicBezTo>
                <a:close/>
                <a:moveTo>
                  <a:pt x="108085" y="38911"/>
                </a:moveTo>
                <a:cubicBezTo>
                  <a:pt x="108085" y="34138"/>
                  <a:pt x="104211" y="30264"/>
                  <a:pt x="99438" y="30264"/>
                </a:cubicBezTo>
                <a:cubicBezTo>
                  <a:pt x="94666" y="30264"/>
                  <a:pt x="90791" y="34138"/>
                  <a:pt x="90791" y="38911"/>
                </a:cubicBezTo>
                <a:cubicBezTo>
                  <a:pt x="90791" y="43683"/>
                  <a:pt x="94666" y="47557"/>
                  <a:pt x="99438" y="47557"/>
                </a:cubicBezTo>
                <a:cubicBezTo>
                  <a:pt x="104211" y="47557"/>
                  <a:pt x="108085" y="43683"/>
                  <a:pt x="108085" y="38911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34" name="Text 31"/>
          <p:cNvSpPr/>
          <p:nvPr/>
        </p:nvSpPr>
        <p:spPr>
          <a:xfrm>
            <a:off x="6868457" y="5694464"/>
            <a:ext cx="3368392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Dashboard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648423" y="5971162"/>
            <a:ext cx="357977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live dashboard tracking sentiment, performance metrics, and risk exposure.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45872" y="6850000"/>
            <a:ext cx="11500255" cy="6917"/>
          </a:xfrm>
          <a:custGeom>
            <a:avLst/>
            <a:gdLst/>
            <a:ahLst/>
            <a:cxnLst/>
            <a:rect l="l" t="t" r="r" b="b"/>
            <a:pathLst>
              <a:path w="11500255" h="6917">
                <a:moveTo>
                  <a:pt x="0" y="0"/>
                </a:moveTo>
                <a:lnTo>
                  <a:pt x="11500255" y="0"/>
                </a:lnTo>
                <a:lnTo>
                  <a:pt x="11500255" y="6917"/>
                </a:lnTo>
                <a:lnTo>
                  <a:pt x="0" y="6917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196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438731" y="7026393"/>
            <a:ext cx="155643" cy="138349"/>
          </a:xfrm>
          <a:custGeom>
            <a:avLst/>
            <a:gdLst/>
            <a:ahLst/>
            <a:cxnLst/>
            <a:rect l="l" t="t" r="r" b="b"/>
            <a:pathLst>
              <a:path w="155643" h="138349">
                <a:moveTo>
                  <a:pt x="97493" y="324"/>
                </a:moveTo>
                <a:cubicBezTo>
                  <a:pt x="92899" y="-1000"/>
                  <a:pt x="88116" y="1675"/>
                  <a:pt x="86792" y="6269"/>
                </a:cubicBezTo>
                <a:lnTo>
                  <a:pt x="52205" y="127324"/>
                </a:lnTo>
                <a:cubicBezTo>
                  <a:pt x="50881" y="131918"/>
                  <a:pt x="53556" y="136701"/>
                  <a:pt x="58150" y="138025"/>
                </a:cubicBezTo>
                <a:cubicBezTo>
                  <a:pt x="62743" y="139349"/>
                  <a:pt x="67526" y="136674"/>
                  <a:pt x="68850" y="132080"/>
                </a:cubicBezTo>
                <a:lnTo>
                  <a:pt x="103437" y="11025"/>
                </a:lnTo>
                <a:cubicBezTo>
                  <a:pt x="104761" y="6431"/>
                  <a:pt x="102086" y="1648"/>
                  <a:pt x="97493" y="324"/>
                </a:cubicBezTo>
                <a:close/>
                <a:moveTo>
                  <a:pt x="114949" y="37100"/>
                </a:moveTo>
                <a:cubicBezTo>
                  <a:pt x="111571" y="40478"/>
                  <a:pt x="111571" y="45963"/>
                  <a:pt x="114949" y="49341"/>
                </a:cubicBezTo>
                <a:lnTo>
                  <a:pt x="134782" y="69174"/>
                </a:lnTo>
                <a:lnTo>
                  <a:pt x="114949" y="89008"/>
                </a:lnTo>
                <a:cubicBezTo>
                  <a:pt x="111571" y="92386"/>
                  <a:pt x="111571" y="97871"/>
                  <a:pt x="114949" y="101249"/>
                </a:cubicBezTo>
                <a:cubicBezTo>
                  <a:pt x="118326" y="104626"/>
                  <a:pt x="123811" y="104626"/>
                  <a:pt x="127189" y="101249"/>
                </a:cubicBezTo>
                <a:lnTo>
                  <a:pt x="153130" y="75308"/>
                </a:lnTo>
                <a:cubicBezTo>
                  <a:pt x="156507" y="71931"/>
                  <a:pt x="156507" y="66445"/>
                  <a:pt x="153130" y="63068"/>
                </a:cubicBezTo>
                <a:lnTo>
                  <a:pt x="127189" y="37127"/>
                </a:lnTo>
                <a:cubicBezTo>
                  <a:pt x="123811" y="33750"/>
                  <a:pt x="118326" y="33750"/>
                  <a:pt x="114949" y="37127"/>
                </a:cubicBezTo>
                <a:close/>
                <a:moveTo>
                  <a:pt x="40721" y="37100"/>
                </a:moveTo>
                <a:cubicBezTo>
                  <a:pt x="37343" y="33723"/>
                  <a:pt x="31858" y="33723"/>
                  <a:pt x="28480" y="37100"/>
                </a:cubicBezTo>
                <a:lnTo>
                  <a:pt x="2540" y="63041"/>
                </a:lnTo>
                <a:cubicBezTo>
                  <a:pt x="-838" y="66418"/>
                  <a:pt x="-838" y="71904"/>
                  <a:pt x="2540" y="75281"/>
                </a:cubicBezTo>
                <a:lnTo>
                  <a:pt x="28480" y="101222"/>
                </a:lnTo>
                <a:cubicBezTo>
                  <a:pt x="31858" y="104599"/>
                  <a:pt x="37343" y="104599"/>
                  <a:pt x="40721" y="101222"/>
                </a:cubicBezTo>
                <a:cubicBezTo>
                  <a:pt x="44099" y="97844"/>
                  <a:pt x="44099" y="92359"/>
                  <a:pt x="40721" y="88981"/>
                </a:cubicBezTo>
                <a:lnTo>
                  <a:pt x="20887" y="69174"/>
                </a:lnTo>
                <a:lnTo>
                  <a:pt x="40694" y="49341"/>
                </a:lnTo>
                <a:cubicBezTo>
                  <a:pt x="44072" y="45963"/>
                  <a:pt x="44072" y="40478"/>
                  <a:pt x="40694" y="37100"/>
                </a:cubicBezTo>
                <a:close/>
              </a:path>
            </a:pathLst>
          </a:custGeom>
          <a:solidFill>
            <a:srgbClr val="C5A575"/>
          </a:solidFill>
          <a:ln/>
        </p:spPr>
      </p:sp>
      <p:sp>
        <p:nvSpPr>
          <p:cNvPr id="38" name="Text 35"/>
          <p:cNvSpPr/>
          <p:nvPr/>
        </p:nvSpPr>
        <p:spPr>
          <a:xfrm>
            <a:off x="4672195" y="6991806"/>
            <a:ext cx="2844800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dirty="0">
                <a:solidFill>
                  <a:srgbClr val="8B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• Pandas • Seaborn • Statistical Analysis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604328" y="702639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8647" y="8647"/>
                </a:moveTo>
                <a:cubicBezTo>
                  <a:pt x="13430" y="8647"/>
                  <a:pt x="17294" y="12511"/>
                  <a:pt x="17294" y="17294"/>
                </a:cubicBezTo>
                <a:lnTo>
                  <a:pt x="17294" y="108085"/>
                </a:lnTo>
                <a:cubicBezTo>
                  <a:pt x="17294" y="110463"/>
                  <a:pt x="19239" y="112409"/>
                  <a:pt x="21617" y="112409"/>
                </a:cubicBezTo>
                <a:lnTo>
                  <a:pt x="129702" y="112409"/>
                </a:lnTo>
                <a:cubicBezTo>
                  <a:pt x="134485" y="112409"/>
                  <a:pt x="138349" y="116273"/>
                  <a:pt x="138349" y="121055"/>
                </a:cubicBezTo>
                <a:cubicBezTo>
                  <a:pt x="138349" y="125838"/>
                  <a:pt x="134485" y="129702"/>
                  <a:pt x="129702" y="129702"/>
                </a:cubicBezTo>
                <a:lnTo>
                  <a:pt x="21617" y="129702"/>
                </a:lnTo>
                <a:cubicBezTo>
                  <a:pt x="9674" y="129702"/>
                  <a:pt x="0" y="120029"/>
                  <a:pt x="0" y="108085"/>
                </a:cubicBezTo>
                <a:lnTo>
                  <a:pt x="0" y="17294"/>
                </a:lnTo>
                <a:cubicBezTo>
                  <a:pt x="0" y="12511"/>
                  <a:pt x="3864" y="8647"/>
                  <a:pt x="8647" y="8647"/>
                </a:cubicBezTo>
                <a:close/>
                <a:moveTo>
                  <a:pt x="34587" y="25940"/>
                </a:moveTo>
                <a:cubicBezTo>
                  <a:pt x="34587" y="21158"/>
                  <a:pt x="38451" y="17294"/>
                  <a:pt x="43234" y="17294"/>
                </a:cubicBezTo>
                <a:lnTo>
                  <a:pt x="95115" y="17294"/>
                </a:lnTo>
                <a:cubicBezTo>
                  <a:pt x="99898" y="17294"/>
                  <a:pt x="103762" y="21158"/>
                  <a:pt x="103762" y="25940"/>
                </a:cubicBezTo>
                <a:cubicBezTo>
                  <a:pt x="103762" y="30723"/>
                  <a:pt x="99898" y="34587"/>
                  <a:pt x="95115" y="34587"/>
                </a:cubicBezTo>
                <a:lnTo>
                  <a:pt x="43234" y="34587"/>
                </a:lnTo>
                <a:cubicBezTo>
                  <a:pt x="38451" y="34587"/>
                  <a:pt x="34587" y="30723"/>
                  <a:pt x="34587" y="25940"/>
                </a:cubicBezTo>
                <a:close/>
                <a:moveTo>
                  <a:pt x="43234" y="47557"/>
                </a:moveTo>
                <a:lnTo>
                  <a:pt x="77821" y="47557"/>
                </a:lnTo>
                <a:cubicBezTo>
                  <a:pt x="82604" y="47557"/>
                  <a:pt x="86468" y="51421"/>
                  <a:pt x="86468" y="56204"/>
                </a:cubicBezTo>
                <a:cubicBezTo>
                  <a:pt x="86468" y="60987"/>
                  <a:pt x="82604" y="64851"/>
                  <a:pt x="77821" y="64851"/>
                </a:cubicBezTo>
                <a:lnTo>
                  <a:pt x="43234" y="64851"/>
                </a:lnTo>
                <a:cubicBezTo>
                  <a:pt x="38451" y="64851"/>
                  <a:pt x="34587" y="60987"/>
                  <a:pt x="34587" y="56204"/>
                </a:cubicBezTo>
                <a:cubicBezTo>
                  <a:pt x="34587" y="51421"/>
                  <a:pt x="38451" y="47557"/>
                  <a:pt x="43234" y="47557"/>
                </a:cubicBezTo>
                <a:close/>
                <a:moveTo>
                  <a:pt x="43234" y="77821"/>
                </a:moveTo>
                <a:lnTo>
                  <a:pt x="112409" y="77821"/>
                </a:lnTo>
                <a:cubicBezTo>
                  <a:pt x="117191" y="77821"/>
                  <a:pt x="121055" y="81685"/>
                  <a:pt x="121055" y="86468"/>
                </a:cubicBezTo>
                <a:cubicBezTo>
                  <a:pt x="121055" y="91251"/>
                  <a:pt x="117191" y="95115"/>
                  <a:pt x="112409" y="95115"/>
                </a:cubicBezTo>
                <a:lnTo>
                  <a:pt x="43234" y="95115"/>
                </a:lnTo>
                <a:cubicBezTo>
                  <a:pt x="38451" y="95115"/>
                  <a:pt x="34587" y="91251"/>
                  <a:pt x="34587" y="86468"/>
                </a:cubicBezTo>
                <a:cubicBezTo>
                  <a:pt x="34587" y="81685"/>
                  <a:pt x="38451" y="77821"/>
                  <a:pt x="43234" y="77821"/>
                </a:cubicBezTo>
                <a:close/>
              </a:path>
            </a:pathLst>
          </a:custGeom>
          <a:solidFill>
            <a:srgbClr val="C5A575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Trader Performance vs Market Sentiment (Fear vs Greed)</dc:title>
  <dc:subject>Trader Performance vs Market Sentiment (Fear vs Greed)</dc:subject>
  <dc:creator>Kimi</dc:creator>
  <cp:lastModifiedBy>Kimi</cp:lastModifiedBy>
  <cp:revision>1</cp:revision>
  <dcterms:created xsi:type="dcterms:W3CDTF">2026-01-15T13:33:59Z</dcterms:created>
  <dcterms:modified xsi:type="dcterms:W3CDTF">2026-01-15T13:33:59Z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{"Label":"Trader Performance vs Market Sentiment (Fear vs Greed)","ContentProducer":"001191110108MACG2KBH8F10000","ProduceID":"19bc1db7-b902-86d0-8000-0000d090625d","ReservedCode1":"","ContentPropagator":"001191110108MACG2KBH8F20000","PropagateID":"19bc1db7-b902-86d0-8000-0000d090625d","ReservedCode2":""}</vt:lpwstr>
  </property>
</Properties>
</file>